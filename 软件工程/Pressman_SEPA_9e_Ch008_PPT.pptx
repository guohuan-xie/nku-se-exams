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sldIdLst>
    <p:sldId id="296" r:id="rId6"/>
    <p:sldId id="263"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1" r:id="rId23"/>
    <p:sldId id="282" r:id="rId24"/>
    <p:sldId id="283" r:id="rId25"/>
    <p:sldId id="280" r:id="rId26"/>
    <p:sldId id="284" r:id="rId27"/>
    <p:sldId id="285" r:id="rId28"/>
    <p:sldId id="286" r:id="rId29"/>
    <p:sldId id="289" r:id="rId30"/>
    <p:sldId id="287" r:id="rId31"/>
    <p:sldId id="288" r:id="rId32"/>
    <p:sldId id="293" r:id="rId33"/>
    <p:sldId id="295" r:id="rId34"/>
    <p:sldId id="290" r:id="rId35"/>
    <p:sldId id="292" r:id="rId36"/>
    <p:sldId id="294" r:id="rId37"/>
    <p:sldId id="291" r:id="rId38"/>
    <p:sldId id="297" r:id="rId39"/>
    <p:sldId id="258" r:id="rId40"/>
    <p:sldId id="264" r:id="rId41"/>
    <p:sldId id="298" r:id="rId42"/>
    <p:sldId id="299" r:id="rId43"/>
    <p:sldId id="300" r:id="rId44"/>
    <p:sldId id="301" r:id="rId45"/>
    <p:sldId id="302" r:id="rId46"/>
    <p:sldId id="303" r:id="rId47"/>
    <p:sldId id="304"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96"/>
            <p14:sldId id="263"/>
            <p14:sldId id="265"/>
            <p14:sldId id="266"/>
            <p14:sldId id="267"/>
            <p14:sldId id="268"/>
            <p14:sldId id="269"/>
            <p14:sldId id="270"/>
            <p14:sldId id="271"/>
            <p14:sldId id="272"/>
            <p14:sldId id="273"/>
            <p14:sldId id="274"/>
            <p14:sldId id="275"/>
            <p14:sldId id="276"/>
            <p14:sldId id="277"/>
            <p14:sldId id="278"/>
            <p14:sldId id="279"/>
            <p14:sldId id="281"/>
            <p14:sldId id="282"/>
            <p14:sldId id="283"/>
            <p14:sldId id="280"/>
            <p14:sldId id="284"/>
            <p14:sldId id="285"/>
            <p14:sldId id="286"/>
            <p14:sldId id="289"/>
            <p14:sldId id="287"/>
            <p14:sldId id="288"/>
            <p14:sldId id="293"/>
            <p14:sldId id="295"/>
            <p14:sldId id="290"/>
            <p14:sldId id="292"/>
            <p14:sldId id="294"/>
            <p14:sldId id="291"/>
            <p14:sldId id="297"/>
          </p14:sldIdLst>
        </p14:section>
        <p14:section name="Appendix: Image Descriptions for Unsighted Students" id="{9E859B0B-078E-463E-89A6-21C20DD280C4}">
          <p14:sldIdLst>
            <p14:sldId id="258"/>
            <p14:sldId id="264"/>
            <p14:sldId id="298"/>
            <p14:sldId id="299"/>
            <p14:sldId id="300"/>
            <p14:sldId id="301"/>
            <p14:sldId id="302"/>
            <p14:sldId id="303"/>
            <p14:sldId id="304"/>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3" autoAdjust="0"/>
    <p:restoredTop sz="86397" autoAdjust="0"/>
  </p:normalViewPr>
  <p:slideViewPr>
    <p:cSldViewPr snapToGrid="0" showGuides="1">
      <p:cViewPr varScale="1">
        <p:scale>
          <a:sx n="79" d="100"/>
          <a:sy n="79" d="100"/>
        </p:scale>
        <p:origin x="852" y="68"/>
      </p:cViewPr>
      <p:guideLst>
        <p:guide pos="3264"/>
        <p:guide orient="horz" pos="2256"/>
        <p:guide pos="5640"/>
      </p:guideLst>
    </p:cSldViewPr>
  </p:slideViewPr>
  <p:outlineViewPr>
    <p:cViewPr>
      <p:scale>
        <a:sx n="33" d="100"/>
        <a:sy n="33" d="100"/>
      </p:scale>
      <p:origin x="0" y="-41568"/>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latin typeface="Times New Roman" panose="02020603050405020304" pitchFamily="18" charset="0"/>
                <a:cs typeface="Times New Roman" panose="02020603050405020304" pitchFamily="18" charset="0"/>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876542"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image" Target="../media/image3.jp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image" Target="../media/image5.jp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image" Target="../media/image6.jp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image" Target="../media/image7.jp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image" Target="../media/image8.jp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image" Target="../media/image9.jp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image" Target="../media/image10.jpe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8</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latin typeface="Times New Roman" panose="02020603050405020304" pitchFamily="18" charset="0"/>
                <a:cs typeface="Times New Roman" panose="02020603050405020304" pitchFamily="18" charset="0"/>
              </a:rPr>
              <a:t>Requirements Modeling – A Recommended Approach</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a:xfrm>
            <a:off x="621791" y="5096656"/>
            <a:ext cx="2670049" cy="569626"/>
          </a:xfrm>
        </p:spPr>
        <p:txBody>
          <a:bodyPr/>
          <a:lstStyle/>
          <a:p>
            <a:r>
              <a:rPr lang="en-US" noProof="0" dirty="0">
                <a:latin typeface="Times New Roman" panose="02020603050405020304" pitchFamily="18" charset="0"/>
                <a:cs typeface="Times New Roman" panose="02020603050405020304" pitchFamily="18" charset="0"/>
              </a:rPr>
              <a:t>Part Two - Mobility.</a:t>
            </a:r>
          </a:p>
        </p:txBody>
      </p:sp>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pic>
        <p:nvPicPr>
          <p:cNvPr id="4" name="Picture Placeholder 3" descr="Software Engineering-A Practitioner's Approach, Ninth edition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Tree>
    <p:extLst>
      <p:ext uri="{BB962C8B-B14F-4D97-AF65-F5344CB8AC3E}">
        <p14:creationId xmlns:p14="http://schemas.microsoft.com/office/powerpoint/2010/main" val="685395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Requirements Analysis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99435"/>
            <a:ext cx="8458200" cy="1868051"/>
          </a:xfrm>
        </p:spPr>
        <p:txBody>
          <a:bodyPr vert="horz" lIns="91440" tIns="45720" rIns="91440" bIns="45720" rtlCol="0">
            <a:noAutofit/>
          </a:bodyPr>
          <a:lstStyle/>
          <a:p>
            <a:pPr>
              <a:spcBef>
                <a:spcPts val="300"/>
              </a:spcBef>
            </a:pPr>
            <a:r>
              <a:rPr lang="en-US" altLang="en-US" sz="2400" noProof="0" dirty="0">
                <a:latin typeface="Times New Roman" panose="02020603050405020304" pitchFamily="18" charset="0"/>
                <a:cs typeface="Times New Roman" panose="02020603050405020304" pitchFamily="18" charset="0"/>
              </a:rPr>
              <a:t>Requirements analysis </a:t>
            </a:r>
          </a:p>
          <a:p>
            <a:pPr marL="291600" lvl="1" indent="-291600">
              <a:spcBef>
                <a:spcPts val="1000"/>
              </a:spcBef>
              <a:spcAft>
                <a:spcPts val="0"/>
              </a:spcAft>
            </a:pPr>
            <a:r>
              <a:rPr lang="en-US" altLang="en-US" noProof="0" dirty="0">
                <a:latin typeface="Times New Roman" panose="02020603050405020304" pitchFamily="18" charset="0"/>
                <a:cs typeface="Times New Roman" panose="02020603050405020304" pitchFamily="18" charset="0"/>
              </a:rPr>
              <a:t>specifies software’s operational characteristics.</a:t>
            </a:r>
          </a:p>
          <a:p>
            <a:pPr marL="291600" lvl="1" indent="-291600">
              <a:spcBef>
                <a:spcPts val="1000"/>
              </a:spcBef>
              <a:spcAft>
                <a:spcPts val="0"/>
              </a:spcAft>
            </a:pPr>
            <a:r>
              <a:rPr lang="en-US" altLang="en-US" noProof="0" dirty="0">
                <a:latin typeface="Times New Roman" panose="02020603050405020304" pitchFamily="18" charset="0"/>
                <a:cs typeface="Times New Roman" panose="02020603050405020304" pitchFamily="18" charset="0"/>
              </a:rPr>
              <a:t>indicates software's interface with other system elements. </a:t>
            </a:r>
          </a:p>
          <a:p>
            <a:pPr marL="291600" lvl="1" indent="-291600">
              <a:spcBef>
                <a:spcPts val="1000"/>
              </a:spcBef>
              <a:spcAft>
                <a:spcPts val="0"/>
              </a:spcAft>
            </a:pPr>
            <a:r>
              <a:rPr lang="en-US" altLang="en-US" noProof="0" dirty="0">
                <a:latin typeface="Times New Roman" panose="02020603050405020304" pitchFamily="18" charset="0"/>
                <a:cs typeface="Times New Roman" panose="02020603050405020304" pitchFamily="18" charset="0"/>
              </a:rPr>
              <a:t>establishes constraints that software must meet.</a:t>
            </a:r>
          </a:p>
        </p:txBody>
      </p:sp>
      <p:sp>
        <p:nvSpPr>
          <p:cNvPr id="10" name="Content Placeholder 9"/>
          <p:cNvSpPr>
            <a:spLocks noGrp="1"/>
          </p:cNvSpPr>
          <p:nvPr>
            <p:ph sz="quarter" idx="15"/>
          </p:nvPr>
        </p:nvSpPr>
        <p:spPr>
          <a:xfrm>
            <a:off x="342900" y="3139915"/>
            <a:ext cx="8458200" cy="1792693"/>
          </a:xfrm>
        </p:spPr>
        <p:txBody>
          <a:bodyPr>
            <a:normAutofit/>
          </a:bodyPr>
          <a:lstStyle/>
          <a:p>
            <a:pPr>
              <a:spcBef>
                <a:spcPts val="300"/>
              </a:spcBef>
            </a:pPr>
            <a:r>
              <a:rPr lang="en-US" altLang="en-US" sz="2400" noProof="0" dirty="0">
                <a:latin typeface="Times New Roman" panose="02020603050405020304" pitchFamily="18" charset="0"/>
                <a:cs typeface="Times New Roman" panose="02020603050405020304" pitchFamily="18" charset="0"/>
              </a:rPr>
              <a:t>Requirements analysis allows the software engineer to:</a:t>
            </a:r>
          </a:p>
          <a:p>
            <a:pPr marL="291600" lvl="1" indent="-291600">
              <a:spcBef>
                <a:spcPts val="1000"/>
              </a:spcBef>
              <a:spcAft>
                <a:spcPts val="0"/>
              </a:spcAft>
            </a:pPr>
            <a:r>
              <a:rPr lang="en-US" altLang="en-US" noProof="0" dirty="0">
                <a:latin typeface="Times New Roman" panose="02020603050405020304" pitchFamily="18" charset="0"/>
                <a:cs typeface="Times New Roman" panose="02020603050405020304" pitchFamily="18" charset="0"/>
              </a:rPr>
              <a:t>elaborate on basic requirements established during earlier requirement engineering tasks.</a:t>
            </a:r>
          </a:p>
          <a:p>
            <a:pPr marL="291600" lvl="1" indent="-291600">
              <a:spcBef>
                <a:spcPts val="1000"/>
              </a:spcBef>
              <a:spcAft>
                <a:spcPts val="0"/>
              </a:spcAft>
            </a:pPr>
            <a:r>
              <a:rPr lang="en-US" altLang="en-US" noProof="0" dirty="0">
                <a:latin typeface="Times New Roman" panose="02020603050405020304" pitchFamily="18" charset="0"/>
                <a:cs typeface="Times New Roman" panose="02020603050405020304" pitchFamily="18" charset="0"/>
              </a:rPr>
              <a:t>build models that depict the user’s needs from several different perspectives.</a:t>
            </a:r>
            <a:endParaRPr lang="en-US"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147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Requirements Models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486148"/>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Scenario-based models </a:t>
            </a:r>
            <a:r>
              <a:rPr lang="en-US" sz="2400" noProof="0" dirty="0">
                <a:latin typeface="Times New Roman" panose="02020603050405020304" pitchFamily="18" charset="0"/>
                <a:cs typeface="Times New Roman" panose="02020603050405020304" pitchFamily="18" charset="0"/>
              </a:rPr>
              <a:t>depict requirements from the point of view of various system “actors.”</a:t>
            </a:r>
          </a:p>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Class-oriented models </a:t>
            </a:r>
            <a:r>
              <a:rPr lang="en-US" sz="2400" noProof="0" dirty="0">
                <a:latin typeface="Times New Roman" panose="02020603050405020304" pitchFamily="18" charset="0"/>
                <a:cs typeface="Times New Roman" panose="02020603050405020304" pitchFamily="18" charset="0"/>
              </a:rPr>
              <a:t>represent object-oriented classes (attributes and operations) and how classes collaborate to achieve system requirements.</a:t>
            </a:r>
          </a:p>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Behavioral models </a:t>
            </a:r>
            <a:r>
              <a:rPr lang="en-US" sz="2400" noProof="0" dirty="0">
                <a:latin typeface="Times New Roman" panose="02020603050405020304" pitchFamily="18" charset="0"/>
                <a:cs typeface="Times New Roman" panose="02020603050405020304" pitchFamily="18" charset="0"/>
              </a:rPr>
              <a:t>depict how the software reacts to internal or external “events.”</a:t>
            </a:r>
          </a:p>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Data models </a:t>
            </a:r>
            <a:r>
              <a:rPr lang="en-US" sz="2400" noProof="0" dirty="0">
                <a:latin typeface="Times New Roman" panose="02020603050405020304" pitchFamily="18" charset="0"/>
                <a:cs typeface="Times New Roman" panose="02020603050405020304" pitchFamily="18" charset="0"/>
              </a:rPr>
              <a:t>depict the information domain for the problem.</a:t>
            </a:r>
          </a:p>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Flow-oriented models </a:t>
            </a:r>
            <a:r>
              <a:rPr lang="en-US" sz="2400" noProof="0" dirty="0">
                <a:latin typeface="Times New Roman" panose="02020603050405020304" pitchFamily="18" charset="0"/>
                <a:cs typeface="Times New Roman" panose="02020603050405020304" pitchFamily="18" charset="0"/>
              </a:rPr>
              <a:t>represent functional elements of the system and how they transform data in the system.</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4904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 Bridge</a:t>
            </a:r>
          </a:p>
        </p:txBody>
      </p:sp>
      <p:pic>
        <p:nvPicPr>
          <p:cNvPr id="5" name="Picture 4" descr="An illustration displays a bridge. Three circles represent the system description, analysis model, and design model. ">
            <a:extLst>
              <a:ext uri="{FF2B5EF4-FFF2-40B4-BE49-F238E27FC236}">
                <a16:creationId xmlns:a16="http://schemas.microsoft.com/office/drawing/2014/main" id="{EE2F2319-2006-4EA1-A542-66AB7FB8CD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4430" y="1239816"/>
            <a:ext cx="4792472" cy="4771354"/>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369563" y="6267575"/>
            <a:ext cx="3224419" cy="247526"/>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5612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Rules of Thumb</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3212825"/>
          </a:xfrm>
        </p:spPr>
        <p:txBody>
          <a:bodyPr vert="horz" lIns="91440" tIns="45720" rIns="91440" bIns="45720" rtlCol="0">
            <a:noAutofit/>
          </a:bodyPr>
          <a:lstStyle/>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The level of abstraction should be relatively high - focus on requirements visible in problem or business domains. </a:t>
            </a:r>
            <a:endParaRPr lang="en-US" altLang="en-US" sz="2400" noProof="0" dirty="0">
              <a:latin typeface="Times New Roman" panose="02020603050405020304" pitchFamily="18" charset="0"/>
              <a:cs typeface="Times New Roman" panose="02020603050405020304" pitchFamily="18" charset="0"/>
              <a:sym typeface="Symbol" panose="05050102010706020507" pitchFamily="18" charset="2"/>
            </a:endParaRP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Analysis model should provide insight into information domain, function, and behavior of the software.</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Delay consideration of infrastructure and other non-functional models until later in the modeling activity. </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The analysis model provides value to all stakeholders keep the model as simple as it can be.</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5</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464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28648" cy="678611"/>
          </a:xfrm>
        </p:spPr>
        <p:txBody>
          <a:bodyPr>
            <a:noAutofit/>
          </a:bodyPr>
          <a:lstStyle/>
          <a:p>
            <a:r>
              <a:rPr lang="en-US" sz="4000" noProof="0" dirty="0">
                <a:latin typeface="Times New Roman" panose="02020603050405020304" pitchFamily="18" charset="0"/>
                <a:cs typeface="Times New Roman" panose="02020603050405020304" pitchFamily="18" charset="0"/>
              </a:rPr>
              <a:t>Requirements Modeling Principles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92351"/>
            <a:ext cx="8228648"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b="1" noProof="0" dirty="0">
                <a:latin typeface="Times New Roman" panose="02020603050405020304" pitchFamily="18" charset="0"/>
                <a:cs typeface="Times New Roman" panose="02020603050405020304" pitchFamily="18" charset="0"/>
              </a:rPr>
              <a:t>Principle 1. </a:t>
            </a:r>
            <a:r>
              <a:rPr lang="en-US" sz="2400" i="1" noProof="0" dirty="0">
                <a:latin typeface="Times New Roman" panose="02020603050405020304" pitchFamily="18" charset="0"/>
                <a:cs typeface="Times New Roman" panose="02020603050405020304" pitchFamily="18" charset="0"/>
              </a:rPr>
              <a:t>The information domain of a problem must be represented and understood. </a:t>
            </a:r>
          </a:p>
          <a:p>
            <a:pPr marL="291600" indent="-291600">
              <a:spcBef>
                <a:spcPts val="1000"/>
              </a:spcBef>
              <a:spcAft>
                <a:spcPts val="0"/>
              </a:spcAft>
              <a:buFont typeface="Arial" panose="020B0604020202020204" pitchFamily="34" charset="0"/>
              <a:buChar char="•"/>
            </a:pPr>
            <a:r>
              <a:rPr lang="en-US" sz="2400" b="1" noProof="0" dirty="0">
                <a:latin typeface="Times New Roman" panose="02020603050405020304" pitchFamily="18" charset="0"/>
                <a:cs typeface="Times New Roman" panose="02020603050405020304" pitchFamily="18" charset="0"/>
              </a:rPr>
              <a:t>Principle 2</a:t>
            </a:r>
            <a:r>
              <a:rPr lang="en-US" sz="2400" noProof="0" dirty="0">
                <a:latin typeface="Times New Roman" panose="02020603050405020304" pitchFamily="18" charset="0"/>
                <a:cs typeface="Times New Roman" panose="02020603050405020304" pitchFamily="18" charset="0"/>
              </a:rPr>
              <a:t>. </a:t>
            </a:r>
            <a:r>
              <a:rPr lang="en-US" sz="2400" i="1" noProof="0" dirty="0">
                <a:latin typeface="Times New Roman" panose="02020603050405020304" pitchFamily="18" charset="0"/>
                <a:cs typeface="Times New Roman" panose="02020603050405020304" pitchFamily="18" charset="0"/>
              </a:rPr>
              <a:t>The functions that the software performs must be defined. </a:t>
            </a:r>
          </a:p>
          <a:p>
            <a:pPr marL="291600" indent="-291600">
              <a:spcBef>
                <a:spcPts val="1000"/>
              </a:spcBef>
              <a:spcAft>
                <a:spcPts val="0"/>
              </a:spcAft>
              <a:buFont typeface="Arial" panose="020B0604020202020204" pitchFamily="34" charset="0"/>
              <a:buChar char="•"/>
            </a:pPr>
            <a:r>
              <a:rPr lang="en-US" sz="2400" b="1" noProof="0" dirty="0">
                <a:latin typeface="Times New Roman" panose="02020603050405020304" pitchFamily="18" charset="0"/>
                <a:cs typeface="Times New Roman" panose="02020603050405020304" pitchFamily="18" charset="0"/>
              </a:rPr>
              <a:t>Principle 3. </a:t>
            </a:r>
            <a:r>
              <a:rPr lang="en-US" sz="2400" i="1" noProof="0" dirty="0">
                <a:latin typeface="Times New Roman" panose="02020603050405020304" pitchFamily="18" charset="0"/>
                <a:cs typeface="Times New Roman" panose="02020603050405020304" pitchFamily="18" charset="0"/>
              </a:rPr>
              <a:t>The behavior of the software (as a consequence of external events) must be represented.</a:t>
            </a:r>
          </a:p>
          <a:p>
            <a:pPr marL="291600" indent="-291600">
              <a:spcBef>
                <a:spcPts val="1000"/>
              </a:spcBef>
              <a:spcAft>
                <a:spcPts val="0"/>
              </a:spcAft>
              <a:buFont typeface="Arial" panose="020B0604020202020204" pitchFamily="34" charset="0"/>
              <a:buChar char="•"/>
            </a:pPr>
            <a:r>
              <a:rPr lang="en-US" sz="2400" b="1" noProof="0" dirty="0">
                <a:latin typeface="Times New Roman" panose="02020603050405020304" pitchFamily="18" charset="0"/>
                <a:cs typeface="Times New Roman" panose="02020603050405020304" pitchFamily="18" charset="0"/>
              </a:rPr>
              <a:t>Principle 4. </a:t>
            </a:r>
            <a:r>
              <a:rPr lang="en-US" sz="2400" i="1" noProof="0" dirty="0">
                <a:latin typeface="Times New Roman" panose="02020603050405020304" pitchFamily="18" charset="0"/>
                <a:cs typeface="Times New Roman" panose="02020603050405020304" pitchFamily="18" charset="0"/>
              </a:rPr>
              <a:t>The models that depict information, function, and behavior must be partitioned in a manner that uncovers detail in a layered (or hierarchical) fashion. </a:t>
            </a:r>
          </a:p>
          <a:p>
            <a:pPr marL="291600" indent="-291600">
              <a:spcBef>
                <a:spcPts val="1000"/>
              </a:spcBef>
              <a:spcAft>
                <a:spcPts val="0"/>
              </a:spcAft>
              <a:buFont typeface="Arial" panose="020B0604020202020204" pitchFamily="34" charset="0"/>
              <a:buChar char="•"/>
            </a:pPr>
            <a:r>
              <a:rPr lang="en-US" sz="2400" b="1" noProof="0" dirty="0">
                <a:latin typeface="Times New Roman" panose="02020603050405020304" pitchFamily="18" charset="0"/>
                <a:cs typeface="Times New Roman" panose="02020603050405020304" pitchFamily="18" charset="0"/>
              </a:rPr>
              <a:t>Principle 5. </a:t>
            </a:r>
            <a:r>
              <a:rPr lang="en-US" sz="2400" i="1" noProof="0" dirty="0">
                <a:latin typeface="Times New Roman" panose="02020603050405020304" pitchFamily="18" charset="0"/>
                <a:cs typeface="Times New Roman" panose="02020603050405020304" pitchFamily="18" charset="0"/>
              </a:rPr>
              <a:t>The analysis task should move from essential information toward implementation detail.</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6</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6764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430666"/>
            <a:ext cx="8458200" cy="993554"/>
          </a:xfrm>
        </p:spPr>
        <p:txBody>
          <a:bodyPr>
            <a:noAutofit/>
          </a:bodyPr>
          <a:lstStyle/>
          <a:p>
            <a:r>
              <a:rPr lang="en-US" sz="4000" noProof="0" dirty="0">
                <a:latin typeface="Times New Roman" panose="02020603050405020304" pitchFamily="18" charset="0"/>
                <a:cs typeface="Times New Roman" panose="02020603050405020304" pitchFamily="18" charset="0"/>
              </a:rPr>
              <a:t>Scenario-Based Modeling: Actors and Profiles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495653"/>
            <a:ext cx="8458200" cy="1389578"/>
          </a:xfrm>
        </p:spPr>
        <p:txBody>
          <a:bodyPr vert="horz" lIns="91440" tIns="45720" rIns="91440" bIns="45720" rtlCol="0">
            <a:noAutofit/>
          </a:bodyPr>
          <a:lstStyle/>
          <a:p>
            <a:r>
              <a:rPr lang="en-US" sz="2400" noProof="0" dirty="0">
                <a:latin typeface="Times New Roman" panose="02020603050405020304" pitchFamily="18" charset="0"/>
                <a:cs typeface="Times New Roman" panose="02020603050405020304" pitchFamily="18" charset="0"/>
              </a:rPr>
              <a:t>A U</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L </a:t>
            </a:r>
            <a:r>
              <a:rPr lang="en-US" sz="2400" b="1" i="1" noProof="0" dirty="0">
                <a:latin typeface="Times New Roman" panose="02020603050405020304" pitchFamily="18" charset="0"/>
                <a:cs typeface="Times New Roman" panose="02020603050405020304" pitchFamily="18" charset="0"/>
              </a:rPr>
              <a:t>actor</a:t>
            </a:r>
            <a:r>
              <a:rPr lang="en-US" sz="2400" i="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models an entity that interacts with a system object. </a:t>
            </a:r>
          </a:p>
          <a:p>
            <a:pPr marL="291600" lvl="2" indent="-291600">
              <a:spcBef>
                <a:spcPts val="1000"/>
              </a:spcBef>
              <a:spcAft>
                <a:spcPts val="0"/>
              </a:spcAft>
            </a:pPr>
            <a:r>
              <a:rPr lang="en-US" sz="2000" noProof="0" dirty="0">
                <a:latin typeface="Times New Roman" panose="02020603050405020304" pitchFamily="18" charset="0"/>
                <a:cs typeface="Times New Roman" panose="02020603050405020304" pitchFamily="18" charset="0"/>
              </a:rPr>
              <a:t>Actors may represent roles played by human stakeholders or external hardware as they interact with system objects by exchanging information.</a:t>
            </a:r>
          </a:p>
        </p:txBody>
      </p:sp>
      <p:sp>
        <p:nvSpPr>
          <p:cNvPr id="10" name="Content Placeholder 9"/>
          <p:cNvSpPr>
            <a:spLocks noGrp="1"/>
          </p:cNvSpPr>
          <p:nvPr>
            <p:ph sz="quarter" idx="15"/>
          </p:nvPr>
        </p:nvSpPr>
        <p:spPr>
          <a:xfrm>
            <a:off x="342900" y="2948606"/>
            <a:ext cx="8458200" cy="2380358"/>
          </a:xfrm>
        </p:spPr>
        <p:txBody>
          <a:bodyPr>
            <a:normAutofit lnSpcReduction="10000"/>
          </a:bodyPr>
          <a:lstStyle/>
          <a:p>
            <a:r>
              <a:rPr lang="en-US" sz="2400" noProof="0" dirty="0">
                <a:latin typeface="Times New Roman" panose="02020603050405020304" pitchFamily="18" charset="0"/>
                <a:cs typeface="Times New Roman" panose="02020603050405020304" pitchFamily="18" charset="0"/>
              </a:rPr>
              <a:t>A U</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L </a:t>
            </a:r>
            <a:r>
              <a:rPr lang="en-US" sz="2400" i="1" noProof="0" dirty="0">
                <a:latin typeface="Times New Roman" panose="02020603050405020304" pitchFamily="18" charset="0"/>
                <a:cs typeface="Times New Roman" panose="02020603050405020304" pitchFamily="18" charset="0"/>
              </a:rPr>
              <a:t>profile </a:t>
            </a:r>
            <a:r>
              <a:rPr lang="en-US" sz="2400" noProof="0" dirty="0">
                <a:latin typeface="Times New Roman" panose="02020603050405020304" pitchFamily="18" charset="0"/>
                <a:cs typeface="Times New Roman" panose="02020603050405020304" pitchFamily="18" charset="0"/>
              </a:rPr>
              <a:t>provides a way of extending an existing model to other domains or platforms</a:t>
            </a:r>
            <a:r>
              <a:rPr lang="en-US" noProof="0" dirty="0">
                <a:latin typeface="Times New Roman" panose="02020603050405020304" pitchFamily="18" charset="0"/>
                <a:cs typeface="Times New Roman" panose="02020603050405020304" pitchFamily="18" charset="0"/>
              </a:rPr>
              <a:t>. </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This might allow you to revise the model of a Web-based system and model the system for various mobile platforms. </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Profiles might also be used to model the system from the viewpoints of different users.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6220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28648" cy="678611"/>
          </a:xfrm>
        </p:spPr>
        <p:txBody>
          <a:bodyPr>
            <a:noAutofit/>
          </a:bodyPr>
          <a:lstStyle/>
          <a:p>
            <a:r>
              <a:rPr lang="en-US" sz="4000" noProof="0" dirty="0">
                <a:latin typeface="Times New Roman" panose="02020603050405020304" pitchFamily="18" charset="0"/>
                <a:cs typeface="Times New Roman" panose="02020603050405020304" pitchFamily="18" charset="0"/>
              </a:rPr>
              <a:t>Use Cases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66593"/>
            <a:ext cx="8228648"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defRPr/>
            </a:pPr>
            <a:r>
              <a:rPr lang="en-US" sz="2400" noProof="0" dirty="0">
                <a:latin typeface="Times New Roman" panose="02020603050405020304" pitchFamily="18" charset="0"/>
                <a:cs typeface="Times New Roman" panose="02020603050405020304" pitchFamily="18" charset="0"/>
              </a:rPr>
              <a:t>Use case as a “contract for behavior” and more formal than a user story.</a:t>
            </a:r>
            <a:endParaRPr lang="en-US" sz="2400" noProof="0" dirty="0">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endParaRPr>
          </a:p>
          <a:p>
            <a:pPr marL="291600" indent="-291600">
              <a:spcBef>
                <a:spcPts val="1000"/>
              </a:spcBef>
              <a:spcAft>
                <a:spcPts val="0"/>
              </a:spcAft>
              <a:buFont typeface="Arial" panose="020B0604020202020204" pitchFamily="34" charset="0"/>
              <a:buChar char="•"/>
              <a:defRPr/>
            </a:pPr>
            <a:r>
              <a:rPr lang="en-US" sz="2400" noProof="0" dirty="0">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rPr>
              <a:t>Use-cases are simply an aid to defining what exists outside the system (actors) and what should be performed by the system (use-cases).</a:t>
            </a:r>
          </a:p>
          <a:p>
            <a:pPr marL="622800" lvl="1" indent="-320400">
              <a:lnSpc>
                <a:spcPct val="90000"/>
              </a:lnSpc>
              <a:spcBef>
                <a:spcPts val="1000"/>
              </a:spcBef>
              <a:spcAft>
                <a:spcPts val="0"/>
              </a:spcAft>
              <a:buFont typeface="+mj-lt"/>
              <a:buAutoNum type="arabicPeriod"/>
              <a:defRPr/>
            </a:pPr>
            <a:r>
              <a:rPr lang="en-US" sz="2400"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What should we write about?</a:t>
            </a:r>
          </a:p>
          <a:p>
            <a:pPr marL="622800" lvl="1" indent="-320400">
              <a:lnSpc>
                <a:spcPct val="90000"/>
              </a:lnSpc>
              <a:spcBef>
                <a:spcPts val="1000"/>
              </a:spcBef>
              <a:spcAft>
                <a:spcPts val="0"/>
              </a:spcAft>
              <a:buFont typeface="+mj-lt"/>
              <a:buAutoNum type="arabicPeriod"/>
              <a:defRPr/>
            </a:pPr>
            <a:r>
              <a:rPr lang="en-US" sz="2400"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How much should we write about it?</a:t>
            </a:r>
          </a:p>
          <a:p>
            <a:pPr marL="622800" lvl="1" indent="-320400">
              <a:lnSpc>
                <a:spcPct val="90000"/>
              </a:lnSpc>
              <a:spcBef>
                <a:spcPts val="1000"/>
              </a:spcBef>
              <a:spcAft>
                <a:spcPts val="0"/>
              </a:spcAft>
              <a:buFont typeface="+mj-lt"/>
              <a:buAutoNum type="arabicPeriod"/>
              <a:defRPr/>
            </a:pPr>
            <a:r>
              <a:rPr lang="en-US" sz="2400"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How detailed should we make our description? </a:t>
            </a:r>
          </a:p>
          <a:p>
            <a:pPr marL="622800" lvl="1" indent="-320400">
              <a:lnSpc>
                <a:spcPct val="90000"/>
              </a:lnSpc>
              <a:spcBef>
                <a:spcPts val="1000"/>
              </a:spcBef>
              <a:spcAft>
                <a:spcPts val="0"/>
              </a:spcAft>
              <a:buFont typeface="+mj-lt"/>
              <a:buAutoNum type="arabicPeriod"/>
              <a:defRPr/>
            </a:pPr>
            <a:r>
              <a:rPr lang="en-US" sz="2400" noProof="0" dirty="0">
                <a:solidFill>
                  <a:schemeClr val="tx1"/>
                </a:solidFill>
                <a:latin typeface="Times New Roman" panose="02020603050405020304" pitchFamily="18" charset="0"/>
                <a:ea typeface="ＭＳ Ｐゴシック" pitchFamily="-128" charset="-128"/>
                <a:cs typeface="Times New Roman" panose="02020603050405020304" pitchFamily="18" charset="0"/>
              </a:rPr>
              <a:t>How should we organize the description? </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8</a:t>
            </a:fld>
            <a:endParaRPr lang="en-US"/>
          </a:p>
        </p:txBody>
      </p:sp>
    </p:spTree>
    <p:extLst>
      <p:ext uri="{BB962C8B-B14F-4D97-AF65-F5344CB8AC3E}">
        <p14:creationId xmlns:p14="http://schemas.microsoft.com/office/powerpoint/2010/main" val="2193771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28648" cy="678611"/>
          </a:xfrm>
        </p:spPr>
        <p:txBody>
          <a:bodyPr>
            <a:noAutofit/>
          </a:bodyPr>
          <a:lstStyle/>
          <a:p>
            <a:r>
              <a:rPr lang="en-US" sz="4000" noProof="0" dirty="0">
                <a:latin typeface="Times New Roman" panose="02020603050405020304" pitchFamily="18" charset="0"/>
                <a:cs typeface="Times New Roman" panose="02020603050405020304" pitchFamily="18" charset="0"/>
              </a:rPr>
              <a:t>What to Write About?</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40835"/>
            <a:ext cx="8228648"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The first two requirements engineering tasks—inception and elicitation—provide you with the information you’ll need to begin writing use cases.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To begin developing a set of use cases, list the functions or activities performed by a specific actor.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You can obtain these from a list of required system functions, through conversations with stakeholders, or by an evaluation of activity diagrams developed as part of requirements modeling.</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Use cases of this type are sometimes referred to as </a:t>
            </a:r>
            <a:r>
              <a:rPr lang="en-US" sz="2400" b="1" i="1" noProof="0" dirty="0">
                <a:latin typeface="Times New Roman" panose="02020603050405020304" pitchFamily="18" charset="0"/>
                <a:cs typeface="Times New Roman" panose="02020603050405020304" pitchFamily="18" charset="0"/>
              </a:rPr>
              <a:t>primary scenarios</a:t>
            </a:r>
            <a:r>
              <a:rPr lang="en-US" sz="2400" i="1" noProof="0" dirty="0">
                <a:latin typeface="Times New Roman" panose="02020603050405020304" pitchFamily="18" charset="0"/>
                <a:cs typeface="Times New Roman" panose="02020603050405020304" pitchFamily="18" charset="0"/>
              </a:rPr>
              <a:t>.</a:t>
            </a:r>
            <a:endParaRPr lang="en-US" sz="2400" noProof="0" dirty="0">
              <a:solidFill>
                <a:schemeClr val="folHlink"/>
              </a:solidFill>
              <a:latin typeface="Times New Roman" panose="02020603050405020304" pitchFamily="18" charset="0"/>
              <a:ea typeface="ＭＳ Ｐゴシック" pitchFamily="-128" charset="-128"/>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9</a:t>
            </a:fld>
            <a:endParaRPr lang="en-US"/>
          </a:p>
        </p:txBody>
      </p:sp>
    </p:spTree>
    <p:extLst>
      <p:ext uri="{BB962C8B-B14F-4D97-AF65-F5344CB8AC3E}">
        <p14:creationId xmlns:p14="http://schemas.microsoft.com/office/powerpoint/2010/main" val="2418090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Alternative Interactions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86557"/>
            <a:ext cx="8458200" cy="2715742"/>
          </a:xfrm>
        </p:spPr>
        <p:txBody>
          <a:bodyPr vert="horz" lIns="91440" tIns="45720" rIns="91440" bIns="45720" rtlCol="0">
            <a:noAutofit/>
          </a:bodyPr>
          <a:lstStyle/>
          <a:p>
            <a:r>
              <a:rPr lang="en-US" sz="2400" noProof="0" dirty="0">
                <a:latin typeface="Times New Roman" panose="02020603050405020304" pitchFamily="18" charset="0"/>
                <a:cs typeface="Times New Roman" panose="02020603050405020304" pitchFamily="18" charset="0"/>
              </a:rPr>
              <a:t>Description of alternative interactions is essential to completely understand a function described a use case.</a:t>
            </a:r>
          </a:p>
          <a:p>
            <a:pPr marL="291600" lvl="1" indent="-291600">
              <a:lnSpc>
                <a:spcPct val="90000"/>
              </a:lnSpc>
              <a:spcBef>
                <a:spcPts val="1000"/>
              </a:spcBef>
              <a:spcAft>
                <a:spcPts val="0"/>
              </a:spcAft>
            </a:pPr>
            <a:r>
              <a:rPr lang="en-US" i="1" noProof="0" dirty="0">
                <a:latin typeface="Times New Roman" panose="02020603050405020304" pitchFamily="18" charset="0"/>
                <a:cs typeface="Times New Roman" panose="02020603050405020304" pitchFamily="18" charset="0"/>
              </a:rPr>
              <a:t>Can the actor take some other action at this point?</a:t>
            </a:r>
          </a:p>
          <a:p>
            <a:pPr marL="291600" lvl="1" indent="-291600">
              <a:lnSpc>
                <a:spcPct val="90000"/>
              </a:lnSpc>
              <a:spcBef>
                <a:spcPts val="1000"/>
              </a:spcBef>
              <a:spcAft>
                <a:spcPts val="0"/>
              </a:spcAft>
            </a:pPr>
            <a:r>
              <a:rPr lang="en-US" i="1" noProof="0" dirty="0">
                <a:latin typeface="Times New Roman" panose="02020603050405020304" pitchFamily="18" charset="0"/>
                <a:cs typeface="Times New Roman" panose="02020603050405020304" pitchFamily="18" charset="0"/>
              </a:rPr>
              <a:t>Is it possible that the actor will encounter some error condition at this point? </a:t>
            </a:r>
          </a:p>
          <a:p>
            <a:pPr marL="291600" lvl="1" indent="-291600">
              <a:lnSpc>
                <a:spcPct val="90000"/>
              </a:lnSpc>
              <a:spcBef>
                <a:spcPts val="1000"/>
              </a:spcBef>
              <a:spcAft>
                <a:spcPts val="0"/>
              </a:spcAft>
            </a:pPr>
            <a:r>
              <a:rPr lang="en-US" i="1" noProof="0" dirty="0">
                <a:latin typeface="Times New Roman" panose="02020603050405020304" pitchFamily="18" charset="0"/>
                <a:cs typeface="Times New Roman" panose="02020603050405020304" pitchFamily="18" charset="0"/>
              </a:rPr>
              <a:t>Is it possible that the actor will encounter some other behavior at this point (for example: behavior that is invoked by some event outside the actor’s control)? </a:t>
            </a:r>
          </a:p>
        </p:txBody>
      </p:sp>
      <p:sp>
        <p:nvSpPr>
          <p:cNvPr id="10" name="Content Placeholder 9"/>
          <p:cNvSpPr>
            <a:spLocks noGrp="1"/>
          </p:cNvSpPr>
          <p:nvPr>
            <p:ph sz="quarter" idx="17"/>
          </p:nvPr>
        </p:nvSpPr>
        <p:spPr>
          <a:xfrm>
            <a:off x="342900" y="3971692"/>
            <a:ext cx="8458200" cy="870764"/>
          </a:xfrm>
        </p:spPr>
        <p:txBody>
          <a:bodyPr>
            <a:normAutofit/>
          </a:bodyPr>
          <a:lstStyle/>
          <a:p>
            <a:r>
              <a:rPr lang="en-US" sz="2400" noProof="0" dirty="0">
                <a:latin typeface="Times New Roman" panose="02020603050405020304" pitchFamily="18" charset="0"/>
                <a:cs typeface="Times New Roman" panose="02020603050405020304" pitchFamily="18" charset="0"/>
              </a:rPr>
              <a:t>Answers to these questions result in the creation of a set of </a:t>
            </a:r>
            <a:r>
              <a:rPr lang="en-US" sz="2400" b="1" i="1" noProof="0" dirty="0">
                <a:latin typeface="Times New Roman" panose="02020603050405020304" pitchFamily="18" charset="0"/>
                <a:cs typeface="Times New Roman" panose="02020603050405020304" pitchFamily="18" charset="0"/>
              </a:rPr>
              <a:t>secondary scenarios</a:t>
            </a:r>
            <a:r>
              <a:rPr lang="en-US" sz="2400" b="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represent alternative use cased behavior.</a:t>
            </a:r>
            <a:endParaRPr lang="en-US" sz="24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a:p>
        </p:txBody>
      </p:sp>
    </p:spTree>
    <p:extLst>
      <p:ext uri="{BB962C8B-B14F-4D97-AF65-F5344CB8AC3E}">
        <p14:creationId xmlns:p14="http://schemas.microsoft.com/office/powerpoint/2010/main" val="2785486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Defining Exceptions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27956"/>
            <a:ext cx="8228648" cy="4060103"/>
          </a:xfrm>
        </p:spPr>
        <p:txBody>
          <a:bodyPr vert="horz" lIns="91440" tIns="45720" rIns="91440" bIns="45720" rtlCol="0">
            <a:noAutofit/>
          </a:bodyPr>
          <a:lstStyle/>
          <a:p>
            <a:r>
              <a:rPr lang="en-US" sz="2400" noProof="0" dirty="0">
                <a:latin typeface="Times New Roman" panose="02020603050405020304" pitchFamily="18" charset="0"/>
                <a:cs typeface="Times New Roman" panose="02020603050405020304" pitchFamily="18" charset="0"/>
              </a:rPr>
              <a:t>An </a:t>
            </a:r>
            <a:r>
              <a:rPr lang="en-US" sz="2400" b="1" i="1" noProof="0" dirty="0">
                <a:latin typeface="Times New Roman" panose="02020603050405020304" pitchFamily="18" charset="0"/>
                <a:cs typeface="Times New Roman" panose="02020603050405020304" pitchFamily="18" charset="0"/>
              </a:rPr>
              <a:t>exception</a:t>
            </a:r>
            <a:r>
              <a:rPr lang="en-US" sz="2400" i="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describes a situation (either a failure condition or</a:t>
            </a:r>
            <a:r>
              <a:rPr lang="en-US" sz="28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an alternative chosen by the actor) that causes the system to exhibit somewhat different behavior.</a:t>
            </a:r>
          </a:p>
          <a:p>
            <a:r>
              <a:rPr lang="en-US" sz="2400" noProof="0" dirty="0">
                <a:latin typeface="Times New Roman" panose="02020603050405020304" pitchFamily="18" charset="0"/>
                <a:cs typeface="Times New Roman" panose="02020603050405020304" pitchFamily="18" charset="0"/>
              </a:rPr>
              <a:t>Questions to ask:</a:t>
            </a:r>
          </a:p>
          <a:p>
            <a:pPr marL="291600" lvl="1" indent="-291600">
              <a:lnSpc>
                <a:spcPct val="90000"/>
              </a:lnSpc>
              <a:spcBef>
                <a:spcPts val="1000"/>
              </a:spcBef>
              <a:spcAft>
                <a:spcPts val="0"/>
              </a:spcAft>
            </a:pPr>
            <a:r>
              <a:rPr lang="en-US" i="1" noProof="0" dirty="0">
                <a:latin typeface="Times New Roman" panose="02020603050405020304" pitchFamily="18" charset="0"/>
                <a:cs typeface="Times New Roman" panose="02020603050405020304" pitchFamily="18" charset="0"/>
              </a:rPr>
              <a:t>Are there cases in which some “validation function” occurs during this use case? </a:t>
            </a:r>
          </a:p>
          <a:p>
            <a:pPr marL="291600" lvl="1" indent="-291600">
              <a:lnSpc>
                <a:spcPct val="90000"/>
              </a:lnSpc>
              <a:spcBef>
                <a:spcPts val="1000"/>
              </a:spcBef>
              <a:spcAft>
                <a:spcPts val="0"/>
              </a:spcAft>
            </a:pPr>
            <a:r>
              <a:rPr lang="en-US" i="1" noProof="0" dirty="0">
                <a:latin typeface="Times New Roman" panose="02020603050405020304" pitchFamily="18" charset="0"/>
                <a:cs typeface="Times New Roman" panose="02020603050405020304" pitchFamily="18" charset="0"/>
              </a:rPr>
              <a:t>Are there cases in which a supporting function (or actor) will fail to respond appropriately? </a:t>
            </a:r>
          </a:p>
          <a:p>
            <a:pPr marL="291600" lvl="1" indent="-291600">
              <a:lnSpc>
                <a:spcPct val="90000"/>
              </a:lnSpc>
              <a:spcBef>
                <a:spcPts val="1000"/>
              </a:spcBef>
              <a:spcAft>
                <a:spcPts val="0"/>
              </a:spcAft>
            </a:pPr>
            <a:r>
              <a:rPr lang="en-US" i="1" noProof="0" dirty="0">
                <a:latin typeface="Times New Roman" panose="02020603050405020304" pitchFamily="18" charset="0"/>
                <a:cs typeface="Times New Roman" panose="02020603050405020304" pitchFamily="18" charset="0"/>
              </a:rPr>
              <a:t>Can poor system performance result in unexpected or improper user actions?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a:p>
        </p:txBody>
      </p:sp>
    </p:spTree>
    <p:extLst>
      <p:ext uri="{BB962C8B-B14F-4D97-AF65-F5344CB8AC3E}">
        <p14:creationId xmlns:p14="http://schemas.microsoft.com/office/powerpoint/2010/main" val="3371880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28648" cy="678611"/>
          </a:xfrm>
        </p:spPr>
        <p:txBody>
          <a:bodyPr>
            <a:noAutofit/>
          </a:bodyPr>
          <a:lstStyle/>
          <a:p>
            <a:r>
              <a:rPr lang="en-US" sz="4000" noProof="0" dirty="0">
                <a:latin typeface="Times New Roman" panose="02020603050405020304" pitchFamily="18" charset="0"/>
                <a:cs typeface="Times New Roman" panose="02020603050405020304" pitchFamily="18" charset="0"/>
              </a:rPr>
              <a:t>Documenting Use Cases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18109"/>
            <a:ext cx="8228648" cy="4397455"/>
          </a:xfrm>
        </p:spPr>
        <p:txBody>
          <a:bodyPr vert="horz" lIns="91440" tIns="45720" rIns="91440" bIns="45720" rtlCol="0">
            <a:noAutofit/>
          </a:bodyPr>
          <a:lstStyle/>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What are the main tasks or functions that are performed by the actor?</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What system information will the actor acquire, produce or change?</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Will the actor have to inform the system about changes in the external environment?</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What information does the actor desire from the system?</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Does the actor wish to be informed about unexpected changes?</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What are the preconditions, triggers, exceptions, and open issues?</a:t>
            </a:r>
            <a:endParaRPr lang="en-US" i="1"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12</a:t>
            </a:fld>
            <a:endParaRPr lang="en-US"/>
          </a:p>
        </p:txBody>
      </p:sp>
    </p:spTree>
    <p:extLst>
      <p:ext uri="{BB962C8B-B14F-4D97-AF65-F5344CB8AC3E}">
        <p14:creationId xmlns:p14="http://schemas.microsoft.com/office/powerpoint/2010/main" val="2123621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Use Case Diagram</a:t>
            </a:r>
          </a:p>
        </p:txBody>
      </p:sp>
      <p:pic>
        <p:nvPicPr>
          <p:cNvPr id="5" name="Picture 4" descr="An illustration displays a case diagram. The homeowner is connected to the three use cases of a safehome.">
            <a:extLst>
              <a:ext uri="{FF2B5EF4-FFF2-40B4-BE49-F238E27FC236}">
                <a16:creationId xmlns:a16="http://schemas.microsoft.com/office/drawing/2014/main" id="{4601341A-5AFC-4ECF-A671-964D149F1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7401" y="1303591"/>
            <a:ext cx="6205976" cy="4519267"/>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2936383" y="6258756"/>
            <a:ext cx="3271233" cy="256343"/>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13</a:t>
            </a:fld>
            <a:endParaRPr lang="en-US"/>
          </a:p>
        </p:txBody>
      </p:sp>
    </p:spTree>
    <p:extLst>
      <p:ext uri="{BB962C8B-B14F-4D97-AF65-F5344CB8AC3E}">
        <p14:creationId xmlns:p14="http://schemas.microsoft.com/office/powerpoint/2010/main" val="1017362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sz="4000" noProof="0" dirty="0">
                <a:latin typeface="Times New Roman" panose="02020603050405020304" pitchFamily="18" charset="0"/>
                <a:cs typeface="Times New Roman" panose="02020603050405020304" pitchFamily="18" charset="0"/>
              </a:rPr>
              <a:t>Class-Based Modeling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22162"/>
            <a:ext cx="8458200" cy="2612712"/>
          </a:xfrm>
        </p:spPr>
        <p:txBody>
          <a:bodyPr vert="horz" lIns="91440" tIns="45720" rIns="91440" bIns="45720" rtlCol="0">
            <a:noAutofit/>
          </a:bodyPr>
          <a:lstStyle/>
          <a:p>
            <a:r>
              <a:rPr lang="en-US" altLang="en-US" sz="2400" noProof="0" dirty="0">
                <a:latin typeface="Times New Roman" panose="02020603050405020304" pitchFamily="18" charset="0"/>
                <a:cs typeface="Times New Roman" panose="02020603050405020304" pitchFamily="18" charset="0"/>
              </a:rPr>
              <a:t>Class-based modeling represents: </a:t>
            </a:r>
          </a:p>
          <a:p>
            <a:pPr marL="291600" lvl="1" indent="-291600">
              <a:spcBef>
                <a:spcPts val="1000"/>
              </a:spcBef>
              <a:spcAft>
                <a:spcPts val="0"/>
              </a:spcAft>
            </a:pPr>
            <a:r>
              <a:rPr lang="en-US" altLang="en-US" noProof="0" dirty="0">
                <a:solidFill>
                  <a:schemeClr val="tx1"/>
                </a:solidFill>
                <a:latin typeface="Times New Roman" panose="02020603050405020304" pitchFamily="18" charset="0"/>
                <a:cs typeface="Times New Roman" panose="02020603050405020304" pitchFamily="18" charset="0"/>
              </a:rPr>
              <a:t>objects that the system will manipulate.</a:t>
            </a:r>
          </a:p>
          <a:p>
            <a:pPr marL="291600" lvl="1" indent="-291600">
              <a:spcBef>
                <a:spcPts val="1000"/>
              </a:spcBef>
              <a:spcAft>
                <a:spcPts val="0"/>
              </a:spcAft>
            </a:pPr>
            <a:r>
              <a:rPr lang="en-US" altLang="en-US" noProof="0" dirty="0">
                <a:solidFill>
                  <a:schemeClr val="tx1"/>
                </a:solidFill>
                <a:latin typeface="Times New Roman" panose="02020603050405020304" pitchFamily="18" charset="0"/>
                <a:cs typeface="Times New Roman" panose="02020603050405020304" pitchFamily="18" charset="0"/>
              </a:rPr>
              <a:t>operations (also called methods or services) that will be applied to the objects to effect the manipulation. </a:t>
            </a:r>
          </a:p>
          <a:p>
            <a:pPr marL="291600" lvl="1" indent="-291600">
              <a:spcBef>
                <a:spcPts val="1000"/>
              </a:spcBef>
              <a:spcAft>
                <a:spcPts val="0"/>
              </a:spcAft>
            </a:pPr>
            <a:r>
              <a:rPr lang="en-US" altLang="en-US" noProof="0" dirty="0">
                <a:solidFill>
                  <a:schemeClr val="tx1"/>
                </a:solidFill>
                <a:latin typeface="Times New Roman" panose="02020603050405020304" pitchFamily="18" charset="0"/>
                <a:cs typeface="Times New Roman" panose="02020603050405020304" pitchFamily="18" charset="0"/>
              </a:rPr>
              <a:t>relationships (some hierarchical) between the objects.</a:t>
            </a:r>
          </a:p>
          <a:p>
            <a:pPr marL="291600" lvl="1" indent="-291600">
              <a:spcBef>
                <a:spcPts val="1000"/>
              </a:spcBef>
              <a:spcAft>
                <a:spcPts val="0"/>
              </a:spcAft>
            </a:pPr>
            <a:r>
              <a:rPr lang="en-US" altLang="en-US" noProof="0" dirty="0">
                <a:solidFill>
                  <a:schemeClr val="tx1"/>
                </a:solidFill>
                <a:latin typeface="Times New Roman" panose="02020603050405020304" pitchFamily="18" charset="0"/>
                <a:cs typeface="Times New Roman" panose="02020603050405020304" pitchFamily="18" charset="0"/>
              </a:rPr>
              <a:t>collaborations </a:t>
            </a:r>
            <a:r>
              <a:rPr lang="en-US" altLang="en-US" noProof="0" dirty="0">
                <a:latin typeface="Times New Roman" panose="02020603050405020304" pitchFamily="18" charset="0"/>
                <a:cs typeface="Times New Roman" panose="02020603050405020304" pitchFamily="18" charset="0"/>
              </a:rPr>
              <a:t>that occur between the classes that are defined. </a:t>
            </a:r>
            <a:endParaRPr lang="en-US" i="1" noProof="0" dirty="0">
              <a:latin typeface="Times New Roman" panose="02020603050405020304" pitchFamily="18" charset="0"/>
              <a:cs typeface="Times New Roman" panose="02020603050405020304" pitchFamily="18" charset="0"/>
            </a:endParaRPr>
          </a:p>
        </p:txBody>
      </p:sp>
      <p:sp>
        <p:nvSpPr>
          <p:cNvPr id="13" name="Content Placeholder 12"/>
          <p:cNvSpPr>
            <a:spLocks noGrp="1"/>
          </p:cNvSpPr>
          <p:nvPr>
            <p:ph sz="quarter" idx="18"/>
          </p:nvPr>
        </p:nvSpPr>
        <p:spPr>
          <a:xfrm>
            <a:off x="342900" y="3799267"/>
            <a:ext cx="8458200" cy="901521"/>
          </a:xfrm>
        </p:spPr>
        <p:txBody>
          <a:bodyPr>
            <a:normAutofit/>
          </a:bodyPr>
          <a:lstStyle/>
          <a:p>
            <a:r>
              <a:rPr lang="en-US" altLang="en-US" sz="2400" noProof="0" dirty="0">
                <a:latin typeface="Times New Roman" panose="02020603050405020304" pitchFamily="18" charset="0"/>
                <a:cs typeface="Times New Roman" panose="02020603050405020304" pitchFamily="18" charset="0"/>
              </a:rPr>
              <a:t>The elements of a class-based model include classes and objects, attributes, operations, C</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R</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C models, U</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M</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L class diagrams. </a:t>
            </a:r>
            <a:endParaRPr lang="en-US" sz="24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14</a:t>
            </a:fld>
            <a:endParaRPr lang="en-US"/>
          </a:p>
        </p:txBody>
      </p:sp>
    </p:spTree>
    <p:extLst>
      <p:ext uri="{BB962C8B-B14F-4D97-AF65-F5344CB8AC3E}">
        <p14:creationId xmlns:p14="http://schemas.microsoft.com/office/powerpoint/2010/main" val="3115294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Identifying Analysis Classes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35041"/>
            <a:ext cx="8458200" cy="2876852"/>
          </a:xfrm>
        </p:spPr>
        <p:txBody>
          <a:bodyPr vert="horz" lIns="91440" tIns="45720" rIns="91440" bIns="45720" rtlCol="0">
            <a:noAutofit/>
          </a:bodyPr>
          <a:lstStyle/>
          <a:p>
            <a:pPr>
              <a:lnSpc>
                <a:spcPct val="90000"/>
              </a:lnSpc>
              <a:spcBef>
                <a:spcPts val="300"/>
              </a:spcBef>
            </a:pPr>
            <a:r>
              <a:rPr lang="en-US" altLang="en-US" sz="2400" noProof="0" dirty="0">
                <a:latin typeface="Times New Roman" panose="02020603050405020304" pitchFamily="18" charset="0"/>
                <a:cs typeface="Times New Roman" panose="02020603050405020304" pitchFamily="18" charset="0"/>
              </a:rPr>
              <a:t>Examining the usage scenarios developed as part of the requirements model and perform a "grammatical parse“.</a:t>
            </a:r>
          </a:p>
          <a:p>
            <a:pPr marL="291600" lvl="1" indent="-291600">
              <a:lnSpc>
                <a:spcPct val="90000"/>
              </a:lnSpc>
              <a:spcBef>
                <a:spcPts val="1000"/>
              </a:spcBef>
              <a:spcAft>
                <a:spcPts val="0"/>
              </a:spcAft>
            </a:pPr>
            <a:r>
              <a:rPr lang="en-US" altLang="en-US" noProof="0" dirty="0">
                <a:latin typeface="Times New Roman" panose="02020603050405020304" pitchFamily="18" charset="0"/>
                <a:cs typeface="Times New Roman" panose="02020603050405020304" pitchFamily="18" charset="0"/>
              </a:rPr>
              <a:t>Classes are determined by underlining each noun or noun phrase and entering it into a simple table. </a:t>
            </a:r>
          </a:p>
          <a:p>
            <a:pPr marL="291600" lvl="1" indent="-291600">
              <a:lnSpc>
                <a:spcPct val="90000"/>
              </a:lnSpc>
              <a:spcBef>
                <a:spcPts val="1000"/>
              </a:spcBef>
              <a:spcAft>
                <a:spcPts val="0"/>
              </a:spcAft>
            </a:pPr>
            <a:r>
              <a:rPr lang="en-US" altLang="en-US" noProof="0" dirty="0">
                <a:latin typeface="Times New Roman" panose="02020603050405020304" pitchFamily="18" charset="0"/>
                <a:cs typeface="Times New Roman" panose="02020603050405020304" pitchFamily="18" charset="0"/>
              </a:rPr>
              <a:t>Synonyms should be noted. </a:t>
            </a:r>
          </a:p>
          <a:p>
            <a:pPr marL="291600" lvl="1" indent="-291600">
              <a:lnSpc>
                <a:spcPct val="90000"/>
              </a:lnSpc>
              <a:spcBef>
                <a:spcPts val="1000"/>
              </a:spcBef>
              <a:spcAft>
                <a:spcPts val="0"/>
              </a:spcAft>
            </a:pPr>
            <a:r>
              <a:rPr lang="en-US" altLang="en-US" noProof="0" dirty="0">
                <a:latin typeface="Times New Roman" panose="02020603050405020304" pitchFamily="18" charset="0"/>
                <a:cs typeface="Times New Roman" panose="02020603050405020304" pitchFamily="18" charset="0"/>
              </a:rPr>
              <a:t>If the class (noun) is required to implement a solution, then it is part of the solution space; otherwise, if a class is necessary only to describe a solution, it is part of the problem space. </a:t>
            </a:r>
            <a:endParaRPr lang="en-US" i="1" noProof="0" dirty="0">
              <a:latin typeface="Times New Roman" panose="02020603050405020304" pitchFamily="18" charset="0"/>
              <a:cs typeface="Times New Roman" panose="02020603050405020304" pitchFamily="18" charset="0"/>
            </a:endParaRPr>
          </a:p>
        </p:txBody>
      </p:sp>
      <p:sp>
        <p:nvSpPr>
          <p:cNvPr id="13" name="Content Placeholder 12"/>
          <p:cNvSpPr>
            <a:spLocks noGrp="1"/>
          </p:cNvSpPr>
          <p:nvPr>
            <p:ph sz="quarter" idx="18"/>
          </p:nvPr>
        </p:nvSpPr>
        <p:spPr>
          <a:xfrm>
            <a:off x="342900" y="4091603"/>
            <a:ext cx="8458200" cy="887767"/>
          </a:xfrm>
        </p:spPr>
        <p:txBody>
          <a:bodyPr>
            <a:normAutofit/>
          </a:bodyPr>
          <a:lstStyle/>
          <a:p>
            <a:r>
              <a:rPr lang="en-US" altLang="en-US" sz="2400" noProof="0" dirty="0">
                <a:latin typeface="Times New Roman" panose="02020603050405020304" pitchFamily="18" charset="0"/>
                <a:cs typeface="Times New Roman" panose="02020603050405020304" pitchFamily="18" charset="0"/>
              </a:rPr>
              <a:t>But what should we look for once all of the nouns have been isolated?</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15</a:t>
            </a:fld>
            <a:endParaRPr lang="en-US"/>
          </a:p>
        </p:txBody>
      </p:sp>
    </p:spTree>
    <p:extLst>
      <p:ext uri="{BB962C8B-B14F-4D97-AF65-F5344CB8AC3E}">
        <p14:creationId xmlns:p14="http://schemas.microsoft.com/office/powerpoint/2010/main" val="712567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Potential Analysis Classes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53714"/>
            <a:ext cx="8228648" cy="4282045"/>
          </a:xfrm>
        </p:spPr>
        <p:txBody>
          <a:bodyPr vert="horz" lIns="91440" tIns="45720" rIns="91440" bIns="45720" rtlCol="0">
            <a:noAutofit/>
          </a:bodyPr>
          <a:lstStyle/>
          <a:p>
            <a:pPr marL="291600" lvl="2" indent="-291600">
              <a:spcBef>
                <a:spcPts val="1000"/>
              </a:spcBef>
              <a:spcAft>
                <a:spcPts val="0"/>
              </a:spcAft>
            </a:pPr>
            <a:r>
              <a:rPr lang="en-US" altLang="en-US" sz="2000" b="1" i="1" noProof="0" dirty="0">
                <a:latin typeface="Times New Roman" panose="02020603050405020304" pitchFamily="18" charset="0"/>
                <a:cs typeface="Times New Roman" panose="02020603050405020304" pitchFamily="18" charset="0"/>
              </a:rPr>
              <a:t>External entities</a:t>
            </a:r>
            <a:r>
              <a:rPr lang="en-US" altLang="en-US" sz="2000" b="1" noProof="0" dirty="0">
                <a:latin typeface="Times New Roman" panose="02020603050405020304" pitchFamily="18" charset="0"/>
                <a:cs typeface="Times New Roman" panose="02020603050405020304" pitchFamily="18" charset="0"/>
              </a:rPr>
              <a:t> </a:t>
            </a:r>
            <a:r>
              <a:rPr lang="en-US" altLang="en-US" sz="2000" noProof="0" dirty="0">
                <a:latin typeface="Times New Roman" panose="02020603050405020304" pitchFamily="18" charset="0"/>
                <a:cs typeface="Times New Roman" panose="02020603050405020304" pitchFamily="18" charset="0"/>
              </a:rPr>
              <a:t>(for example: other systems, devices, people) that produce or consume information. </a:t>
            </a:r>
          </a:p>
          <a:p>
            <a:pPr marL="291600" lvl="2" indent="-291600">
              <a:spcBef>
                <a:spcPts val="1000"/>
              </a:spcBef>
              <a:spcAft>
                <a:spcPts val="0"/>
              </a:spcAft>
            </a:pPr>
            <a:r>
              <a:rPr lang="en-US" altLang="en-US" sz="2000" b="1" i="1" noProof="0" dirty="0">
                <a:latin typeface="Times New Roman" panose="02020603050405020304" pitchFamily="18" charset="0"/>
                <a:cs typeface="Times New Roman" panose="02020603050405020304" pitchFamily="18" charset="0"/>
              </a:rPr>
              <a:t>Things</a:t>
            </a:r>
            <a:r>
              <a:rPr lang="en-US" altLang="en-US" sz="2000" noProof="0" dirty="0">
                <a:latin typeface="Times New Roman" panose="02020603050405020304" pitchFamily="18" charset="0"/>
                <a:cs typeface="Times New Roman" panose="02020603050405020304" pitchFamily="18" charset="0"/>
              </a:rPr>
              <a:t> (for example: reports, displays, letters, signals) that are part of the information domain for the problem.</a:t>
            </a:r>
          </a:p>
          <a:p>
            <a:pPr marL="291600" lvl="2" indent="-291600">
              <a:spcBef>
                <a:spcPts val="1000"/>
              </a:spcBef>
              <a:spcAft>
                <a:spcPts val="0"/>
              </a:spcAft>
            </a:pPr>
            <a:r>
              <a:rPr lang="en-US" altLang="en-US" sz="2000" b="1" i="1" noProof="0" dirty="0">
                <a:latin typeface="Times New Roman" panose="02020603050405020304" pitchFamily="18" charset="0"/>
                <a:cs typeface="Times New Roman" panose="02020603050405020304" pitchFamily="18" charset="0"/>
              </a:rPr>
              <a:t>Occurrences or events</a:t>
            </a:r>
            <a:r>
              <a:rPr lang="en-US" altLang="en-US" sz="2000" b="1" noProof="0" dirty="0">
                <a:latin typeface="Times New Roman" panose="02020603050405020304" pitchFamily="18" charset="0"/>
                <a:cs typeface="Times New Roman" panose="02020603050405020304" pitchFamily="18" charset="0"/>
              </a:rPr>
              <a:t> </a:t>
            </a:r>
            <a:r>
              <a:rPr lang="en-US" altLang="en-US" sz="2000" noProof="0" dirty="0">
                <a:latin typeface="Times New Roman" panose="02020603050405020304" pitchFamily="18" charset="0"/>
                <a:cs typeface="Times New Roman" panose="02020603050405020304" pitchFamily="18" charset="0"/>
              </a:rPr>
              <a:t>that occur within the context of system operation.</a:t>
            </a:r>
          </a:p>
          <a:p>
            <a:pPr marL="291600" lvl="2" indent="-291600">
              <a:spcBef>
                <a:spcPts val="1000"/>
              </a:spcBef>
              <a:spcAft>
                <a:spcPts val="0"/>
              </a:spcAft>
            </a:pPr>
            <a:r>
              <a:rPr lang="en-US" altLang="en-US" sz="2000" b="1" i="1" noProof="0" dirty="0">
                <a:latin typeface="Times New Roman" panose="02020603050405020304" pitchFamily="18" charset="0"/>
                <a:cs typeface="Times New Roman" panose="02020603050405020304" pitchFamily="18" charset="0"/>
              </a:rPr>
              <a:t>Roles</a:t>
            </a:r>
            <a:r>
              <a:rPr lang="en-US" altLang="en-US" sz="2000" noProof="0" dirty="0">
                <a:latin typeface="Times New Roman" panose="02020603050405020304" pitchFamily="18" charset="0"/>
                <a:cs typeface="Times New Roman" panose="02020603050405020304" pitchFamily="18" charset="0"/>
              </a:rPr>
              <a:t> played by people who interact with the system.</a:t>
            </a:r>
          </a:p>
          <a:p>
            <a:pPr marL="291600" lvl="2" indent="-291600">
              <a:spcBef>
                <a:spcPts val="1000"/>
              </a:spcBef>
              <a:spcAft>
                <a:spcPts val="0"/>
              </a:spcAft>
            </a:pPr>
            <a:r>
              <a:rPr lang="en-US" altLang="en-US" sz="2000" b="1" i="1" noProof="0" dirty="0">
                <a:latin typeface="Times New Roman" panose="02020603050405020304" pitchFamily="18" charset="0"/>
                <a:cs typeface="Times New Roman" panose="02020603050405020304" pitchFamily="18" charset="0"/>
              </a:rPr>
              <a:t>Organizational units</a:t>
            </a:r>
            <a:r>
              <a:rPr lang="en-US" altLang="en-US" sz="2000" b="1" noProof="0" dirty="0">
                <a:latin typeface="Times New Roman" panose="02020603050405020304" pitchFamily="18" charset="0"/>
                <a:cs typeface="Times New Roman" panose="02020603050405020304" pitchFamily="18" charset="0"/>
              </a:rPr>
              <a:t> </a:t>
            </a:r>
            <a:r>
              <a:rPr lang="en-US" altLang="en-US" sz="2000" noProof="0" dirty="0">
                <a:latin typeface="Times New Roman" panose="02020603050405020304" pitchFamily="18" charset="0"/>
                <a:cs typeface="Times New Roman" panose="02020603050405020304" pitchFamily="18" charset="0"/>
              </a:rPr>
              <a:t>that are relevant to an application.</a:t>
            </a:r>
          </a:p>
          <a:p>
            <a:pPr marL="291600" lvl="2" indent="-291600">
              <a:spcBef>
                <a:spcPts val="1000"/>
              </a:spcBef>
              <a:spcAft>
                <a:spcPts val="0"/>
              </a:spcAft>
            </a:pPr>
            <a:r>
              <a:rPr lang="en-US" altLang="en-US" sz="2000" b="1" i="1" noProof="0" dirty="0">
                <a:latin typeface="Times New Roman" panose="02020603050405020304" pitchFamily="18" charset="0"/>
                <a:cs typeface="Times New Roman" panose="02020603050405020304" pitchFamily="18" charset="0"/>
              </a:rPr>
              <a:t>Places</a:t>
            </a:r>
            <a:r>
              <a:rPr lang="en-US" altLang="en-US" sz="2000" i="1" noProof="0" dirty="0">
                <a:latin typeface="Times New Roman" panose="02020603050405020304" pitchFamily="18" charset="0"/>
                <a:cs typeface="Times New Roman" panose="02020603050405020304" pitchFamily="18" charset="0"/>
              </a:rPr>
              <a:t> </a:t>
            </a:r>
            <a:r>
              <a:rPr lang="en-US" altLang="en-US" sz="2000" noProof="0" dirty="0">
                <a:latin typeface="Times New Roman" panose="02020603050405020304" pitchFamily="18" charset="0"/>
                <a:cs typeface="Times New Roman" panose="02020603050405020304" pitchFamily="18" charset="0"/>
              </a:rPr>
              <a:t>that establish the context of the problem and overall function.</a:t>
            </a:r>
          </a:p>
          <a:p>
            <a:pPr marL="291600" lvl="2" indent="-291600">
              <a:spcBef>
                <a:spcPts val="1000"/>
              </a:spcBef>
              <a:spcAft>
                <a:spcPts val="0"/>
              </a:spcAft>
            </a:pPr>
            <a:r>
              <a:rPr lang="en-US" altLang="en-US" sz="2000" b="1" i="1" noProof="0" dirty="0">
                <a:latin typeface="Times New Roman" panose="02020603050405020304" pitchFamily="18" charset="0"/>
                <a:cs typeface="Times New Roman" panose="02020603050405020304" pitchFamily="18" charset="0"/>
              </a:rPr>
              <a:t>Structures</a:t>
            </a:r>
            <a:r>
              <a:rPr lang="en-US" altLang="en-US" sz="2000" noProof="0" dirty="0">
                <a:latin typeface="Times New Roman" panose="02020603050405020304" pitchFamily="18" charset="0"/>
                <a:cs typeface="Times New Roman" panose="02020603050405020304" pitchFamily="18" charset="0"/>
              </a:rPr>
              <a:t> (for example: sensors, four-wheeled vehicles, or computers) that define a class of objects or related classes of objects.</a:t>
            </a:r>
            <a:endParaRPr lang="en-US" i="1"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16</a:t>
            </a:fld>
            <a:endParaRPr lang="en-US"/>
          </a:p>
        </p:txBody>
      </p:sp>
    </p:spTree>
    <p:extLst>
      <p:ext uri="{BB962C8B-B14F-4D97-AF65-F5344CB8AC3E}">
        <p14:creationId xmlns:p14="http://schemas.microsoft.com/office/powerpoint/2010/main" val="3097637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Analysis Class Selection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79472"/>
            <a:ext cx="8228648"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b="1" i="1" noProof="0" dirty="0">
                <a:solidFill>
                  <a:schemeClr val="tx1"/>
                </a:solidFill>
                <a:latin typeface="Times New Roman" panose="02020603050405020304" pitchFamily="18" charset="0"/>
                <a:cs typeface="Times New Roman" panose="02020603050405020304" pitchFamily="18" charset="0"/>
              </a:rPr>
              <a:t>Retained information</a:t>
            </a:r>
            <a:r>
              <a:rPr lang="en-US" altLang="en-US" i="1" noProof="0" dirty="0">
                <a:solidFill>
                  <a:schemeClr val="tx1"/>
                </a:solidFill>
                <a:latin typeface="Times New Roman" panose="02020603050405020304" pitchFamily="18" charset="0"/>
                <a:cs typeface="Times New Roman" panose="02020603050405020304" pitchFamily="18" charset="0"/>
              </a:rPr>
              <a:t>.</a:t>
            </a:r>
            <a:r>
              <a:rPr lang="en-US" altLang="en-US" noProof="0" dirty="0">
                <a:solidFill>
                  <a:schemeClr val="tx1"/>
                </a:solidFill>
                <a:latin typeface="Times New Roman" panose="02020603050405020304" pitchFamily="18" charset="0"/>
                <a:cs typeface="Times New Roman" panose="02020603050405020304" pitchFamily="18" charset="0"/>
              </a:rPr>
              <a:t> Potential class will be useful during analysis only if information about it must be remembered.</a:t>
            </a:r>
          </a:p>
          <a:p>
            <a:pPr marL="291600" indent="-291600">
              <a:spcBef>
                <a:spcPts val="1000"/>
              </a:spcBef>
              <a:spcAft>
                <a:spcPts val="0"/>
              </a:spcAft>
              <a:buFont typeface="Arial" panose="020B0604020202020204" pitchFamily="34" charset="0"/>
              <a:buChar char="•"/>
            </a:pPr>
            <a:r>
              <a:rPr lang="en-US" altLang="en-US" b="1" i="1" noProof="0" dirty="0">
                <a:solidFill>
                  <a:schemeClr val="tx1"/>
                </a:solidFill>
                <a:latin typeface="Times New Roman" panose="02020603050405020304" pitchFamily="18" charset="0"/>
                <a:cs typeface="Times New Roman" panose="02020603050405020304" pitchFamily="18" charset="0"/>
              </a:rPr>
              <a:t>Needed services</a:t>
            </a:r>
            <a:r>
              <a:rPr lang="en-US" altLang="en-US" i="1" noProof="0" dirty="0">
                <a:solidFill>
                  <a:schemeClr val="tx1"/>
                </a:solidFill>
                <a:latin typeface="Times New Roman" panose="02020603050405020304" pitchFamily="18" charset="0"/>
                <a:cs typeface="Times New Roman" panose="02020603050405020304" pitchFamily="18" charset="0"/>
              </a:rPr>
              <a:t>.</a:t>
            </a:r>
            <a:r>
              <a:rPr lang="en-US" altLang="en-US" noProof="0" dirty="0">
                <a:solidFill>
                  <a:schemeClr val="tx1"/>
                </a:solidFill>
                <a:latin typeface="Times New Roman" panose="02020603050405020304" pitchFamily="18" charset="0"/>
                <a:cs typeface="Times New Roman" panose="02020603050405020304" pitchFamily="18" charset="0"/>
              </a:rPr>
              <a:t> Potential class must have a set of identifiable operations that can change the value of its attributes in some way.</a:t>
            </a:r>
          </a:p>
          <a:p>
            <a:pPr marL="291600" indent="-291600">
              <a:spcBef>
                <a:spcPts val="1000"/>
              </a:spcBef>
              <a:spcAft>
                <a:spcPts val="0"/>
              </a:spcAft>
              <a:buFont typeface="Arial" panose="020B0604020202020204" pitchFamily="34" charset="0"/>
              <a:buChar char="•"/>
            </a:pPr>
            <a:r>
              <a:rPr lang="en-US" altLang="en-US" b="1" i="1" noProof="0" dirty="0">
                <a:solidFill>
                  <a:schemeClr val="tx1"/>
                </a:solidFill>
                <a:latin typeface="Times New Roman" panose="02020603050405020304" pitchFamily="18" charset="0"/>
                <a:cs typeface="Times New Roman" panose="02020603050405020304" pitchFamily="18" charset="0"/>
              </a:rPr>
              <a:t>Multiple attributes</a:t>
            </a:r>
            <a:r>
              <a:rPr lang="en-US" altLang="en-US" i="1" noProof="0" dirty="0">
                <a:solidFill>
                  <a:schemeClr val="tx1"/>
                </a:solidFill>
                <a:latin typeface="Times New Roman" panose="02020603050405020304" pitchFamily="18" charset="0"/>
                <a:cs typeface="Times New Roman" panose="02020603050405020304" pitchFamily="18" charset="0"/>
              </a:rPr>
              <a:t>.</a:t>
            </a:r>
            <a:r>
              <a:rPr lang="en-US" altLang="en-US" noProof="0" dirty="0">
                <a:solidFill>
                  <a:schemeClr val="tx1"/>
                </a:solidFill>
                <a:latin typeface="Times New Roman" panose="02020603050405020304" pitchFamily="18" charset="0"/>
                <a:cs typeface="Times New Roman" panose="02020603050405020304" pitchFamily="18" charset="0"/>
              </a:rPr>
              <a:t> Focus should be on "major" information; a class with a single attribute may be better represented as an attribute of another class.</a:t>
            </a:r>
          </a:p>
          <a:p>
            <a:pPr marL="291600" indent="-291600">
              <a:spcBef>
                <a:spcPts val="1000"/>
              </a:spcBef>
              <a:spcAft>
                <a:spcPts val="0"/>
              </a:spcAft>
              <a:buFont typeface="Arial" panose="020B0604020202020204" pitchFamily="34" charset="0"/>
              <a:buChar char="•"/>
            </a:pPr>
            <a:r>
              <a:rPr lang="en-US" altLang="en-US" b="1" i="1" noProof="0" dirty="0">
                <a:solidFill>
                  <a:schemeClr val="tx1"/>
                </a:solidFill>
                <a:latin typeface="Times New Roman" panose="02020603050405020304" pitchFamily="18" charset="0"/>
                <a:cs typeface="Times New Roman" panose="02020603050405020304" pitchFamily="18" charset="0"/>
              </a:rPr>
              <a:t>Common attributes</a:t>
            </a:r>
            <a:r>
              <a:rPr lang="en-US" altLang="en-US" i="1" noProof="0" dirty="0">
                <a:solidFill>
                  <a:schemeClr val="tx1"/>
                </a:solidFill>
                <a:latin typeface="Times New Roman" panose="02020603050405020304" pitchFamily="18" charset="0"/>
                <a:cs typeface="Times New Roman" panose="02020603050405020304" pitchFamily="18" charset="0"/>
              </a:rPr>
              <a:t>.</a:t>
            </a:r>
            <a:r>
              <a:rPr lang="en-US" altLang="en-US" noProof="0" dirty="0">
                <a:solidFill>
                  <a:schemeClr val="tx1"/>
                </a:solidFill>
                <a:latin typeface="Times New Roman" panose="02020603050405020304" pitchFamily="18" charset="0"/>
                <a:cs typeface="Times New Roman" panose="02020603050405020304" pitchFamily="18" charset="0"/>
              </a:rPr>
              <a:t> A set of attributes can be defined for the potential class and the attributes apply to all instances of the class.</a:t>
            </a:r>
          </a:p>
          <a:p>
            <a:pPr marL="291600" indent="-291600">
              <a:spcBef>
                <a:spcPts val="1000"/>
              </a:spcBef>
              <a:spcAft>
                <a:spcPts val="0"/>
              </a:spcAft>
              <a:buFont typeface="Arial" panose="020B0604020202020204" pitchFamily="34" charset="0"/>
              <a:buChar char="•"/>
            </a:pPr>
            <a:r>
              <a:rPr lang="en-US" altLang="en-US" b="1" i="1" noProof="0" dirty="0">
                <a:solidFill>
                  <a:schemeClr val="tx1"/>
                </a:solidFill>
                <a:latin typeface="Times New Roman" panose="02020603050405020304" pitchFamily="18" charset="0"/>
                <a:cs typeface="Times New Roman" panose="02020603050405020304" pitchFamily="18" charset="0"/>
              </a:rPr>
              <a:t>Common operations</a:t>
            </a:r>
            <a:r>
              <a:rPr lang="en-US" altLang="en-US" i="1" noProof="0" dirty="0">
                <a:solidFill>
                  <a:schemeClr val="tx1"/>
                </a:solidFill>
                <a:latin typeface="Times New Roman" panose="02020603050405020304" pitchFamily="18" charset="0"/>
                <a:cs typeface="Times New Roman" panose="02020603050405020304" pitchFamily="18" charset="0"/>
              </a:rPr>
              <a:t>.</a:t>
            </a:r>
            <a:r>
              <a:rPr lang="en-US" altLang="en-US" noProof="0" dirty="0">
                <a:solidFill>
                  <a:schemeClr val="tx1"/>
                </a:solidFill>
                <a:latin typeface="Times New Roman" panose="02020603050405020304" pitchFamily="18" charset="0"/>
                <a:cs typeface="Times New Roman" panose="02020603050405020304" pitchFamily="18" charset="0"/>
              </a:rPr>
              <a:t> A set of operations can be defined for the potential class and the operations apply to all instances of the class.</a:t>
            </a:r>
          </a:p>
          <a:p>
            <a:pPr marL="291600" indent="-291600">
              <a:spcBef>
                <a:spcPts val="1000"/>
              </a:spcBef>
              <a:spcAft>
                <a:spcPts val="0"/>
              </a:spcAft>
              <a:buFont typeface="Arial" panose="020B0604020202020204" pitchFamily="34" charset="0"/>
              <a:buChar char="•"/>
            </a:pPr>
            <a:r>
              <a:rPr lang="en-US" altLang="en-US" b="1" i="1" noProof="0" dirty="0">
                <a:solidFill>
                  <a:schemeClr val="tx1"/>
                </a:solidFill>
                <a:latin typeface="Times New Roman" panose="02020603050405020304" pitchFamily="18" charset="0"/>
                <a:cs typeface="Times New Roman" panose="02020603050405020304" pitchFamily="18" charset="0"/>
              </a:rPr>
              <a:t>Essential requirements</a:t>
            </a:r>
            <a:r>
              <a:rPr lang="en-US" altLang="en-US" i="1" noProof="0" dirty="0">
                <a:solidFill>
                  <a:schemeClr val="tx1"/>
                </a:solidFill>
                <a:latin typeface="Times New Roman" panose="02020603050405020304" pitchFamily="18" charset="0"/>
                <a:cs typeface="Times New Roman" panose="02020603050405020304" pitchFamily="18" charset="0"/>
              </a:rPr>
              <a:t>.</a:t>
            </a:r>
            <a:r>
              <a:rPr lang="en-US" altLang="en-US" noProof="0" dirty="0">
                <a:solidFill>
                  <a:schemeClr val="tx1"/>
                </a:solidFill>
                <a:latin typeface="Times New Roman" panose="02020603050405020304" pitchFamily="18" charset="0"/>
                <a:cs typeface="Times New Roman" panose="02020603050405020304" pitchFamily="18" charset="0"/>
              </a:rPr>
              <a:t> External entities that appear in the problem space and produce or consume information essential to the solution will usually be defined as analysis classes in the model.</a:t>
            </a:r>
            <a:endParaRPr lang="en-US" i="1"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17</a:t>
            </a:fld>
            <a:endParaRPr lang="en-US"/>
          </a:p>
        </p:txBody>
      </p:sp>
    </p:spTree>
    <p:extLst>
      <p:ext uri="{BB962C8B-B14F-4D97-AF65-F5344CB8AC3E}">
        <p14:creationId xmlns:p14="http://schemas.microsoft.com/office/powerpoint/2010/main" val="2930992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Defining Attributes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79472"/>
            <a:ext cx="8228648" cy="384703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b="1" i="1" noProof="0" dirty="0">
                <a:solidFill>
                  <a:schemeClr val="tx1"/>
                </a:solidFill>
                <a:latin typeface="Times New Roman" panose="02020603050405020304" pitchFamily="18" charset="0"/>
                <a:cs typeface="Times New Roman" panose="02020603050405020304" pitchFamily="18" charset="0"/>
              </a:rPr>
              <a:t>Attributes </a:t>
            </a:r>
            <a:r>
              <a:rPr lang="en-US" sz="2400" noProof="0" dirty="0">
                <a:solidFill>
                  <a:schemeClr val="tx1"/>
                </a:solidFill>
                <a:latin typeface="Times New Roman" panose="02020603050405020304" pitchFamily="18" charset="0"/>
                <a:cs typeface="Times New Roman" panose="02020603050405020304" pitchFamily="18" charset="0"/>
              </a:rPr>
              <a:t>describe a class that has been selected for inclusion in the analysis model.</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It is the attributes that define the class—that clarify what is meant by the class in the context of the problem space.</a:t>
            </a:r>
          </a:p>
          <a:p>
            <a:pPr marL="291600" indent="-291600">
              <a:spcBef>
                <a:spcPts val="1000"/>
              </a:spcBef>
              <a:spcAft>
                <a:spcPts val="0"/>
              </a:spcAft>
              <a:buFont typeface="Arial" panose="020B0604020202020204" pitchFamily="34" charset="0"/>
              <a:buChar char="•"/>
            </a:pPr>
            <a:r>
              <a:rPr lang="en-US" sz="2400" noProof="0" dirty="0">
                <a:solidFill>
                  <a:schemeClr val="tx1"/>
                </a:solidFill>
                <a:latin typeface="Times New Roman" panose="02020603050405020304" pitchFamily="18" charset="0"/>
                <a:cs typeface="Times New Roman" panose="02020603050405020304" pitchFamily="18" charset="0"/>
              </a:rPr>
              <a:t>To develop a meaningful set of attributes for an analysis class, you should study each use case and select those “things” that reasonably “belong” to the class. </a:t>
            </a:r>
            <a:endParaRPr lang="en-US" sz="2400" i="1" noProof="0" dirty="0">
              <a:solidFill>
                <a:schemeClr val="tx1"/>
              </a:solidFill>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sz="2400" i="1" noProof="0" dirty="0">
                <a:solidFill>
                  <a:schemeClr val="tx1"/>
                </a:solidFill>
                <a:latin typeface="Times New Roman" panose="02020603050405020304" pitchFamily="18" charset="0"/>
                <a:cs typeface="Times New Roman" panose="02020603050405020304" pitchFamily="18" charset="0"/>
              </a:rPr>
              <a:t>What data items(composite and/or elementary) fully define this class in the context of the problem at hand?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18</a:t>
            </a:fld>
            <a:endParaRPr lang="en-US"/>
          </a:p>
        </p:txBody>
      </p:sp>
    </p:spTree>
    <p:extLst>
      <p:ext uri="{BB962C8B-B14F-4D97-AF65-F5344CB8AC3E}">
        <p14:creationId xmlns:p14="http://schemas.microsoft.com/office/powerpoint/2010/main" val="1014668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Defining Operations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86557"/>
            <a:ext cx="8283512" cy="2805894"/>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Operations</a:t>
            </a:r>
            <a:r>
              <a:rPr lang="en-US" i="1"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define the behavior of an object.</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Operations they can generally be divided into four broad categories: </a:t>
            </a:r>
          </a:p>
          <a:p>
            <a:pPr marL="622800" lvl="1" indent="-3204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Operations that manipulate data in some way.</a:t>
            </a:r>
          </a:p>
          <a:p>
            <a:pPr marL="622800" lvl="1" indent="-3204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Operations that perform a computation.</a:t>
            </a:r>
          </a:p>
          <a:p>
            <a:pPr marL="622800" lvl="1" indent="-3204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Operations that inquire about the state.</a:t>
            </a:r>
          </a:p>
          <a:p>
            <a:pPr marL="622800" lvl="1" indent="-3204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Operations that monitor an object for the occurrence of a controlling event.</a:t>
            </a:r>
          </a:p>
        </p:txBody>
      </p:sp>
      <p:sp>
        <p:nvSpPr>
          <p:cNvPr id="13" name="Content Placeholder 12"/>
          <p:cNvSpPr>
            <a:spLocks noGrp="1"/>
          </p:cNvSpPr>
          <p:nvPr>
            <p:ph sz="quarter" idx="18"/>
          </p:nvPr>
        </p:nvSpPr>
        <p:spPr>
          <a:xfrm>
            <a:off x="342900" y="4069654"/>
            <a:ext cx="8283512" cy="1455382"/>
          </a:xfrm>
        </p:spPr>
        <p:txBody>
          <a:bodyPr>
            <a:normAutofit/>
          </a:bodyPr>
          <a:lstStyle/>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These functions are accomplished by operating on attributes and/or associations.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Therefore, an operation must have “knowledge” of the class attributes and associations.</a:t>
            </a:r>
            <a:endParaRPr lang="en-US"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19</a:t>
            </a:fld>
            <a:endParaRPr lang="en-US"/>
          </a:p>
        </p:txBody>
      </p:sp>
    </p:spTree>
    <p:extLst>
      <p:ext uri="{BB962C8B-B14F-4D97-AF65-F5344CB8AC3E}">
        <p14:creationId xmlns:p14="http://schemas.microsoft.com/office/powerpoint/2010/main" val="1984126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1"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C</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R</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C Modeling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40835"/>
            <a:ext cx="8228648" cy="4211024"/>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b="1" i="1" noProof="0" dirty="0">
                <a:solidFill>
                  <a:schemeClr val="tx1"/>
                </a:solidFill>
                <a:latin typeface="Times New Roman" panose="02020603050405020304" pitchFamily="18" charset="0"/>
                <a:cs typeface="Times New Roman" panose="02020603050405020304" pitchFamily="18" charset="0"/>
              </a:rPr>
              <a:t>Class-responsibility-collaborator</a:t>
            </a:r>
            <a:r>
              <a:rPr lang="en-US" altLang="en-US" sz="2400" i="1" noProof="0" dirty="0">
                <a:solidFill>
                  <a:schemeClr val="tx1"/>
                </a:solidFill>
                <a:latin typeface="Times New Roman" panose="02020603050405020304" pitchFamily="18" charset="0"/>
                <a:cs typeface="Times New Roman" panose="02020603050405020304" pitchFamily="18" charset="0"/>
              </a:rPr>
              <a:t> (C</a:t>
            </a:r>
            <a:r>
              <a:rPr lang="en-US" altLang="en-US" sz="100" i="1" noProof="0" dirty="0">
                <a:solidFill>
                  <a:schemeClr val="tx1"/>
                </a:solidFill>
                <a:latin typeface="Times New Roman" panose="02020603050405020304" pitchFamily="18" charset="0"/>
                <a:cs typeface="Times New Roman" panose="02020603050405020304" pitchFamily="18" charset="0"/>
              </a:rPr>
              <a:t> </a:t>
            </a:r>
            <a:r>
              <a:rPr lang="en-US" altLang="en-US" sz="2400" i="1" noProof="0" dirty="0">
                <a:solidFill>
                  <a:schemeClr val="tx1"/>
                </a:solidFill>
                <a:latin typeface="Times New Roman" panose="02020603050405020304" pitchFamily="18" charset="0"/>
                <a:cs typeface="Times New Roman" panose="02020603050405020304" pitchFamily="18" charset="0"/>
              </a:rPr>
              <a:t>R</a:t>
            </a:r>
            <a:r>
              <a:rPr lang="en-US" altLang="en-US" sz="100" i="1" noProof="0" dirty="0">
                <a:solidFill>
                  <a:schemeClr val="tx1"/>
                </a:solidFill>
                <a:latin typeface="Times New Roman" panose="02020603050405020304" pitchFamily="18" charset="0"/>
                <a:cs typeface="Times New Roman" panose="02020603050405020304" pitchFamily="18" charset="0"/>
              </a:rPr>
              <a:t> </a:t>
            </a:r>
            <a:r>
              <a:rPr lang="en-US" altLang="en-US" sz="2400" i="1" noProof="0" dirty="0">
                <a:solidFill>
                  <a:schemeClr val="tx1"/>
                </a:solidFill>
                <a:latin typeface="Times New Roman" panose="02020603050405020304" pitchFamily="18" charset="0"/>
                <a:cs typeface="Times New Roman" panose="02020603050405020304" pitchFamily="18" charset="0"/>
              </a:rPr>
              <a:t>C) modeling</a:t>
            </a:r>
            <a:r>
              <a:rPr lang="en-US" altLang="en-US" sz="2400" noProof="0" dirty="0">
                <a:solidFill>
                  <a:schemeClr val="tx1"/>
                </a:solidFill>
                <a:latin typeface="Times New Roman" panose="02020603050405020304" pitchFamily="18" charset="0"/>
                <a:cs typeface="Times New Roman" panose="02020603050405020304" pitchFamily="18" charset="0"/>
              </a:rPr>
              <a:t> provides a simple means for identifying and organizing the classes that are relevant to system or product requirements. </a:t>
            </a:r>
          </a:p>
          <a:p>
            <a:pPr marL="291600" lvl="1" indent="-291600">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A C</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R</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C model is really a collection of standard index cards that represent classes. </a:t>
            </a:r>
          </a:p>
          <a:p>
            <a:pPr marL="291600" lvl="1" indent="-291600">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The cards are divided into three sections:</a:t>
            </a:r>
          </a:p>
          <a:p>
            <a:pPr marL="622800" lvl="3" indent="-320400">
              <a:spcBef>
                <a:spcPts val="1000"/>
              </a:spcBef>
              <a:spcAft>
                <a:spcPts val="0"/>
              </a:spcAft>
              <a:buFont typeface="+mj-lt"/>
              <a:buAutoNum type="arabicPeriod"/>
            </a:pPr>
            <a:r>
              <a:rPr lang="en-US" altLang="en-US" sz="2000" noProof="0" dirty="0">
                <a:latin typeface="Times New Roman" panose="02020603050405020304" pitchFamily="18" charset="0"/>
                <a:cs typeface="Times New Roman" panose="02020603050405020304" pitchFamily="18" charset="0"/>
              </a:rPr>
              <a:t>Along the top of the card you write the name of the class. </a:t>
            </a:r>
          </a:p>
          <a:p>
            <a:pPr marL="622800" lvl="3" indent="-320400">
              <a:spcBef>
                <a:spcPts val="1000"/>
              </a:spcBef>
              <a:spcAft>
                <a:spcPts val="0"/>
              </a:spcAft>
              <a:buFont typeface="+mj-lt"/>
              <a:buAutoNum type="arabicPeriod"/>
            </a:pPr>
            <a:r>
              <a:rPr lang="en-US" altLang="en-US" sz="2000" noProof="0" dirty="0">
                <a:latin typeface="Times New Roman" panose="02020603050405020304" pitchFamily="18" charset="0"/>
                <a:cs typeface="Times New Roman" panose="02020603050405020304" pitchFamily="18" charset="0"/>
              </a:rPr>
              <a:t>list the class responsibilities on the left.</a:t>
            </a:r>
          </a:p>
          <a:p>
            <a:pPr marL="622800" lvl="3" indent="-320400">
              <a:spcBef>
                <a:spcPts val="1000"/>
              </a:spcBef>
              <a:spcAft>
                <a:spcPts val="0"/>
              </a:spcAft>
              <a:buFont typeface="+mj-lt"/>
              <a:buAutoNum type="arabicPeriod"/>
            </a:pPr>
            <a:r>
              <a:rPr lang="en-US" altLang="en-US" sz="2000" noProof="0" dirty="0">
                <a:latin typeface="Times New Roman" panose="02020603050405020304" pitchFamily="18" charset="0"/>
                <a:cs typeface="Times New Roman" panose="02020603050405020304" pitchFamily="18" charset="0"/>
              </a:rPr>
              <a:t>list the collaborators on the right.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20</a:t>
            </a:fld>
            <a:endParaRPr lang="en-US"/>
          </a:p>
        </p:txBody>
      </p:sp>
    </p:spTree>
    <p:extLst>
      <p:ext uri="{BB962C8B-B14F-4D97-AF65-F5344CB8AC3E}">
        <p14:creationId xmlns:p14="http://schemas.microsoft.com/office/powerpoint/2010/main" val="519120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C</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R</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C Cards</a:t>
            </a:r>
          </a:p>
        </p:txBody>
      </p:sp>
      <p:pic>
        <p:nvPicPr>
          <p:cNvPr id="5" name="Picture 4" descr="An illustration displays C R C cards. The title reads class: floor plan. ">
            <a:extLst>
              <a:ext uri="{FF2B5EF4-FFF2-40B4-BE49-F238E27FC236}">
                <a16:creationId xmlns:a16="http://schemas.microsoft.com/office/drawing/2014/main" id="{A0C6A68C-9151-446B-8875-C26F4C2967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57" y="1127924"/>
            <a:ext cx="6852086" cy="4585374"/>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2949262" y="6267635"/>
            <a:ext cx="3580327" cy="247465"/>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21</a:t>
            </a:fld>
            <a:endParaRPr lang="en-US"/>
          </a:p>
        </p:txBody>
      </p:sp>
    </p:spTree>
    <p:extLst>
      <p:ext uri="{BB962C8B-B14F-4D97-AF65-F5344CB8AC3E}">
        <p14:creationId xmlns:p14="http://schemas.microsoft.com/office/powerpoint/2010/main" val="2979415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C</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R</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C Model Review Process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40835"/>
            <a:ext cx="8228648" cy="4237657"/>
          </a:xfrm>
        </p:spPr>
        <p:txBody>
          <a:bodyPr vert="horz" lIns="91440" tIns="45720" rIns="91440" bIns="45720" rtlCol="0">
            <a:noAutofit/>
          </a:bodyPr>
          <a:lstStyle/>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All stakeholders in the review (of the C</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R</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C model) are given a subset of the C</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R</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C model index cards. No reviewer should have two cards that collaborate.</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The review leader reads the use case deliberately. As the review leader comes to a named object, she passes a token to the person holding the corresponding class index card.</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When the token is passed, the holder of the class card is asked to describe the responsibilities noted on the card. The group determines whether one of the responsibilities satisfies the use case requirement.</a:t>
            </a:r>
          </a:p>
          <a:p>
            <a:pPr marL="403200" indent="-403200">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If an error is found, modifications are made to the cards. This may include the definition of new classes (C</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R</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C index cards) or revising lists of responsibilities or collaborations on existing cards.</a:t>
            </a:r>
            <a:endParaRPr lang="en-US" altLang="en-US" sz="20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22</a:t>
            </a:fld>
            <a:endParaRPr lang="en-US"/>
          </a:p>
        </p:txBody>
      </p:sp>
    </p:spTree>
    <p:extLst>
      <p:ext uri="{BB962C8B-B14F-4D97-AF65-F5344CB8AC3E}">
        <p14:creationId xmlns:p14="http://schemas.microsoft.com/office/powerpoint/2010/main" val="68429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Functional Modeling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60798"/>
            <a:ext cx="8283512" cy="253543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The </a:t>
            </a:r>
            <a:r>
              <a:rPr lang="en-US" sz="2400" b="1" i="1" noProof="0" dirty="0">
                <a:latin typeface="Times New Roman" panose="02020603050405020304" pitchFamily="18" charset="0"/>
                <a:cs typeface="Times New Roman" panose="02020603050405020304" pitchFamily="18" charset="0"/>
              </a:rPr>
              <a:t>functional model </a:t>
            </a:r>
            <a:r>
              <a:rPr lang="en-US" sz="2400" noProof="0" dirty="0">
                <a:latin typeface="Times New Roman" panose="02020603050405020304" pitchFamily="18" charset="0"/>
                <a:cs typeface="Times New Roman" panose="02020603050405020304" pitchFamily="18" charset="0"/>
              </a:rPr>
              <a:t>addresses two application processing elements:</a:t>
            </a:r>
          </a:p>
          <a:p>
            <a:pPr marL="622800" lvl="1" indent="-3204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user-observable functionality that is delivered by the app to end users.</a:t>
            </a:r>
          </a:p>
          <a:p>
            <a:pPr marL="622800" lvl="1" indent="-3204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operations contained within analysis classes that implement behaviors associated with the class.</a:t>
            </a:r>
          </a:p>
        </p:txBody>
      </p:sp>
      <p:sp>
        <p:nvSpPr>
          <p:cNvPr id="11" name="Content Placeholder 10"/>
          <p:cNvSpPr>
            <a:spLocks noGrp="1"/>
          </p:cNvSpPr>
          <p:nvPr>
            <p:ph sz="quarter" idx="16"/>
          </p:nvPr>
        </p:nvSpPr>
        <p:spPr>
          <a:xfrm>
            <a:off x="342900" y="3778632"/>
            <a:ext cx="8283512" cy="2095131"/>
          </a:xfrm>
        </p:spPr>
        <p:txBody>
          <a:bodyPr>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U</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L activity diagrams can be used to represent processing details.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U</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L activity diagram supplements a use case by providing a graphical representation of the flow of interaction within a specific scenario.</a:t>
            </a:r>
            <a:endParaRPr lang="en-US" sz="24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23</a:t>
            </a:fld>
            <a:endParaRPr lang="en-US"/>
          </a:p>
        </p:txBody>
      </p:sp>
    </p:spTree>
    <p:extLst>
      <p:ext uri="{BB962C8B-B14F-4D97-AF65-F5344CB8AC3E}">
        <p14:creationId xmlns:p14="http://schemas.microsoft.com/office/powerpoint/2010/main" val="1725620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Activity Diagram </a:t>
            </a:r>
            <a:r>
              <a:rPr lang="en-US" sz="1000" b="0" noProof="0" dirty="0">
                <a:latin typeface="Times New Roman" panose="02020603050405020304" pitchFamily="18" charset="0"/>
                <a:cs typeface="Times New Roman" panose="02020603050405020304" pitchFamily="18" charset="0"/>
              </a:rPr>
              <a:t>1</a:t>
            </a:r>
          </a:p>
        </p:txBody>
      </p:sp>
      <p:pic>
        <p:nvPicPr>
          <p:cNvPr id="6" name="Picture 5" descr="A flowchart displays an activity diagram. The diagram starts with two possibilities, camera not in use, and camera in use.">
            <a:extLst>
              <a:ext uri="{FF2B5EF4-FFF2-40B4-BE49-F238E27FC236}">
                <a16:creationId xmlns:a16="http://schemas.microsoft.com/office/drawing/2014/main" id="{94CA5644-BC4E-443A-ACF4-9BB3699422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160" y="1145307"/>
            <a:ext cx="7371681" cy="4668054"/>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2846231" y="6276512"/>
            <a:ext cx="3309870" cy="238587"/>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24</a:t>
            </a:fld>
            <a:endParaRPr lang="en-US"/>
          </a:p>
        </p:txBody>
      </p:sp>
    </p:spTree>
    <p:extLst>
      <p:ext uri="{BB962C8B-B14F-4D97-AF65-F5344CB8AC3E}">
        <p14:creationId xmlns:p14="http://schemas.microsoft.com/office/powerpoint/2010/main" val="1090044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28648" cy="678611"/>
          </a:xfrm>
        </p:spPr>
        <p:txBody>
          <a:bodyPr>
            <a:noAutofit/>
          </a:bodyPr>
          <a:lstStyle/>
          <a:p>
            <a:r>
              <a:rPr lang="en-US" sz="4000" noProof="0" dirty="0">
                <a:latin typeface="Times New Roman" panose="02020603050405020304" pitchFamily="18" charset="0"/>
                <a:cs typeface="Times New Roman" panose="02020603050405020304" pitchFamily="18" charset="0"/>
              </a:rPr>
              <a:t>Behavioral Modeling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02198"/>
            <a:ext cx="8228648" cy="358070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 </a:t>
            </a:r>
            <a:r>
              <a:rPr lang="en-US" sz="2400" b="1" i="1" noProof="0" dirty="0">
                <a:latin typeface="Times New Roman" panose="02020603050405020304" pitchFamily="18" charset="0"/>
                <a:cs typeface="Times New Roman" panose="02020603050405020304" pitchFamily="18" charset="0"/>
              </a:rPr>
              <a:t>behavioral model </a:t>
            </a:r>
            <a:r>
              <a:rPr lang="en-US" sz="2400" noProof="0" dirty="0">
                <a:latin typeface="Times New Roman" panose="02020603050405020304" pitchFamily="18" charset="0"/>
                <a:cs typeface="Times New Roman" panose="02020603050405020304" pitchFamily="18" charset="0"/>
              </a:rPr>
              <a:t>indicates how software will respond to internal or external events or stimuli.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This information is useful in the creation of an effective design for the system to be built.</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U</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L activity diagrams can be used to model how system elements respond to internal events.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U</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L state diagrams can be used to model how system elements respond to external events.</a:t>
            </a:r>
            <a:endParaRPr lang="en-US" altLang="en-US" sz="28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25</a:t>
            </a:fld>
            <a:endParaRPr lang="en-US"/>
          </a:p>
        </p:txBody>
      </p:sp>
    </p:spTree>
    <p:extLst>
      <p:ext uri="{BB962C8B-B14F-4D97-AF65-F5344CB8AC3E}">
        <p14:creationId xmlns:p14="http://schemas.microsoft.com/office/powerpoint/2010/main" val="461090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Sequence Diagram </a:t>
            </a:r>
            <a:r>
              <a:rPr lang="en-US" sz="1000" b="0" noProof="0" dirty="0">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27956"/>
            <a:ext cx="8228648" cy="3909183"/>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The U</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L </a:t>
            </a:r>
            <a:r>
              <a:rPr lang="en-US" sz="2400" b="1" i="1" noProof="0" dirty="0">
                <a:latin typeface="Times New Roman" panose="02020603050405020304" pitchFamily="18" charset="0"/>
                <a:cs typeface="Times New Roman" panose="02020603050405020304" pitchFamily="18" charset="0"/>
              </a:rPr>
              <a:t>sequence diagram </a:t>
            </a:r>
            <a:r>
              <a:rPr lang="en-US" sz="2400" noProof="0" dirty="0">
                <a:latin typeface="Times New Roman" panose="02020603050405020304" pitchFamily="18" charset="0"/>
                <a:cs typeface="Times New Roman" panose="02020603050405020304" pitchFamily="18" charset="0"/>
              </a:rPr>
              <a:t>can be used for behavioral modeling.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Sequence diagrams can also be used to show how events cause transitions from object to object.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Once events have been identified by examining a use case, the modeler creates a sequence diagram—a representation of how events cause flow from one object to another as a function of time.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Sequence diagram is a shorthand version of a use case.</a:t>
            </a:r>
            <a:endParaRPr lang="en-US" altLang="en-US" sz="28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26</a:t>
            </a:fld>
            <a:endParaRPr lang="en-US"/>
          </a:p>
        </p:txBody>
      </p:sp>
    </p:spTree>
    <p:extLst>
      <p:ext uri="{BB962C8B-B14F-4D97-AF65-F5344CB8AC3E}">
        <p14:creationId xmlns:p14="http://schemas.microsoft.com/office/powerpoint/2010/main" val="35574824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Sequence Diagram </a:t>
            </a:r>
            <a:r>
              <a:rPr lang="en-US" sz="1000" b="0" noProof="0" dirty="0">
                <a:latin typeface="Times New Roman" panose="02020603050405020304" pitchFamily="18" charset="0"/>
                <a:cs typeface="Times New Roman" panose="02020603050405020304" pitchFamily="18" charset="0"/>
              </a:rPr>
              <a:t>2</a:t>
            </a:r>
          </a:p>
        </p:txBody>
      </p:sp>
      <p:pic>
        <p:nvPicPr>
          <p:cNvPr id="10" name="Picture 9" descr="The sequence diagram has four life lines which are labeled, from left to right, homeowner, control panel, system and sensors. ">
            <a:extLst>
              <a:ext uri="{FF2B5EF4-FFF2-40B4-BE49-F238E27FC236}">
                <a16:creationId xmlns:a16="http://schemas.microsoft.com/office/drawing/2014/main" id="{ACBCE150-542D-4DC2-9730-057805D762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1395" y="1354845"/>
            <a:ext cx="6701879" cy="4299313"/>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2871989" y="6267634"/>
            <a:ext cx="3541690" cy="247465"/>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27</a:t>
            </a:fld>
            <a:endParaRPr lang="en-US"/>
          </a:p>
        </p:txBody>
      </p:sp>
    </p:spTree>
    <p:extLst>
      <p:ext uri="{BB962C8B-B14F-4D97-AF65-F5344CB8AC3E}">
        <p14:creationId xmlns:p14="http://schemas.microsoft.com/office/powerpoint/2010/main" val="4018526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28648" cy="678611"/>
          </a:xfrm>
        </p:spPr>
        <p:txBody>
          <a:bodyPr>
            <a:noAutofit/>
          </a:bodyPr>
          <a:lstStyle/>
          <a:p>
            <a:r>
              <a:rPr lang="en-US" sz="4000" noProof="0" dirty="0">
                <a:latin typeface="Times New Roman" panose="02020603050405020304" pitchFamily="18" charset="0"/>
                <a:cs typeface="Times New Roman" panose="02020603050405020304" pitchFamily="18" charset="0"/>
              </a:rPr>
              <a:t>Creating Behavioral Models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15077"/>
            <a:ext cx="8228648" cy="3216725"/>
          </a:xfrm>
        </p:spPr>
        <p:txBody>
          <a:bodyPr vert="horz" lIns="91440" tIns="45720" rIns="91440" bIns="45720" rtlCol="0">
            <a:noAutofit/>
          </a:bodyPr>
          <a:lstStyle/>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Evaluate all use cases to fully understand the sequence of interaction within the system.</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Identify events that drive the interaction sequence and understand how these events relate to specific objects.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Create a sequence diagram for each use case.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Build a state diagram for the system.</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Review the behavioral model for accuracy and consistency.</a:t>
            </a:r>
            <a:endParaRPr lang="en-US" alt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28</a:t>
            </a:fld>
            <a:endParaRPr lang="en-US"/>
          </a:p>
        </p:txBody>
      </p:sp>
    </p:spTree>
    <p:extLst>
      <p:ext uri="{BB962C8B-B14F-4D97-AF65-F5344CB8AC3E}">
        <p14:creationId xmlns:p14="http://schemas.microsoft.com/office/powerpoint/2010/main" val="35857504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Identifying Events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15077"/>
            <a:ext cx="8228648" cy="3980204"/>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 use case represents a sequence of activities that involves actors and the system.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An event occurs whenever the system and an actor exchange information.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An event is </a:t>
            </a:r>
            <a:r>
              <a:rPr lang="en-US" sz="2400" i="1" noProof="0" dirty="0">
                <a:latin typeface="Times New Roman" panose="02020603050405020304" pitchFamily="18" charset="0"/>
                <a:cs typeface="Times New Roman" panose="02020603050405020304" pitchFamily="18" charset="0"/>
              </a:rPr>
              <a:t>not </a:t>
            </a:r>
            <a:r>
              <a:rPr lang="en-US" sz="2400" noProof="0" dirty="0">
                <a:latin typeface="Times New Roman" panose="02020603050405020304" pitchFamily="18" charset="0"/>
                <a:cs typeface="Times New Roman" panose="02020603050405020304" pitchFamily="18" charset="0"/>
              </a:rPr>
              <a:t>the information that has been exchanged, but rather the fact that information has been exchanged.</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 use case needs to be examined for points of information exchange.</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Events are used to trigger state transitions.</a:t>
            </a:r>
            <a:endParaRPr lang="en-US" altLang="en-US" sz="28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29</a:t>
            </a:fld>
            <a:endParaRPr lang="en-US"/>
          </a:p>
        </p:txBody>
      </p:sp>
    </p:spTree>
    <p:extLst>
      <p:ext uri="{BB962C8B-B14F-4D97-AF65-F5344CB8AC3E}">
        <p14:creationId xmlns:p14="http://schemas.microsoft.com/office/powerpoint/2010/main" val="8270746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State Diagram</a:t>
            </a:r>
          </a:p>
        </p:txBody>
      </p:sp>
      <p:pic>
        <p:nvPicPr>
          <p:cNvPr id="6" name="Picture 5" descr="A state diagram process. ">
            <a:extLst>
              <a:ext uri="{FF2B5EF4-FFF2-40B4-BE49-F238E27FC236}">
                <a16:creationId xmlns:a16="http://schemas.microsoft.com/office/drawing/2014/main" id="{903CFCA6-860C-498F-95AD-D7F6A1B466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861" y="1460685"/>
            <a:ext cx="7018279" cy="4339302"/>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2717441" y="6277260"/>
            <a:ext cx="3696237" cy="237839"/>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30</a:t>
            </a:fld>
            <a:endParaRPr lang="en-US"/>
          </a:p>
        </p:txBody>
      </p:sp>
    </p:spTree>
    <p:extLst>
      <p:ext uri="{BB962C8B-B14F-4D97-AF65-F5344CB8AC3E}">
        <p14:creationId xmlns:p14="http://schemas.microsoft.com/office/powerpoint/2010/main" val="873831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Activity Diagram </a:t>
            </a:r>
            <a:r>
              <a:rPr lang="en-US" sz="1000" b="0" noProof="0" dirty="0">
                <a:latin typeface="Times New Roman" panose="02020603050405020304" pitchFamily="18" charset="0"/>
                <a:cs typeface="Times New Roman" panose="02020603050405020304" pitchFamily="18" charset="0"/>
              </a:rPr>
              <a:t>2</a:t>
            </a:r>
          </a:p>
        </p:txBody>
      </p:sp>
      <p:pic>
        <p:nvPicPr>
          <p:cNvPr id="5" name="Picture 4" descr="An acitivity diagram process. ">
            <a:extLst>
              <a:ext uri="{FF2B5EF4-FFF2-40B4-BE49-F238E27FC236}">
                <a16:creationId xmlns:a16="http://schemas.microsoft.com/office/drawing/2014/main" id="{D2931F16-E5A6-4F76-8EA2-5CEA462B83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6080" y="1429467"/>
            <a:ext cx="4229895" cy="4625554"/>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000777" y="6220496"/>
            <a:ext cx="3193961" cy="294604"/>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31</a:t>
            </a:fld>
            <a:endParaRPr lang="en-US"/>
          </a:p>
        </p:txBody>
      </p:sp>
    </p:spTree>
    <p:extLst>
      <p:ext uri="{BB962C8B-B14F-4D97-AF65-F5344CB8AC3E}">
        <p14:creationId xmlns:p14="http://schemas.microsoft.com/office/powerpoint/2010/main" val="20871573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Swimlane Diagrams</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53714"/>
            <a:ext cx="8228648" cy="3804652"/>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The U</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L </a:t>
            </a:r>
            <a:r>
              <a:rPr lang="en-US" noProof="0" dirty="0" err="1">
                <a:latin typeface="Times New Roman" panose="02020603050405020304" pitchFamily="18" charset="0"/>
                <a:cs typeface="Times New Roman" panose="02020603050405020304" pitchFamily="18" charset="0"/>
              </a:rPr>
              <a:t>swimlane</a:t>
            </a:r>
            <a:r>
              <a:rPr lang="en-US" noProof="0" dirty="0">
                <a:latin typeface="Times New Roman" panose="02020603050405020304" pitchFamily="18" charset="0"/>
                <a:cs typeface="Times New Roman" panose="02020603050405020304" pitchFamily="18" charset="0"/>
              </a:rPr>
              <a:t> diagram is a useful variation of the activity diagram that allows you to represent the flow of activities described by the use case.</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Swimlane diagrams indicate which actor (if there are multiple actors involved in a specific use case) or analysis class has responsibility for the action described by an activity rectangle. </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Responsibilities are represented as parallel segments that divide the diagram vertically, like the lanes in a swimming pool.</a:t>
            </a:r>
            <a:endParaRPr lang="en-US" alt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32</a:t>
            </a:fld>
            <a:endParaRPr lang="en-US"/>
          </a:p>
        </p:txBody>
      </p:sp>
    </p:spTree>
    <p:extLst>
      <p:ext uri="{BB962C8B-B14F-4D97-AF65-F5344CB8AC3E}">
        <p14:creationId xmlns:p14="http://schemas.microsoft.com/office/powerpoint/2010/main" val="20306427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Swimlane Diagram</a:t>
            </a:r>
            <a:endParaRPr lang="en-US" sz="1000" b="0" noProof="0" dirty="0">
              <a:latin typeface="Times New Roman" panose="02020603050405020304" pitchFamily="18" charset="0"/>
              <a:cs typeface="Times New Roman" panose="02020603050405020304" pitchFamily="18" charset="0"/>
            </a:endParaRPr>
          </a:p>
        </p:txBody>
      </p:sp>
      <p:pic>
        <p:nvPicPr>
          <p:cNvPr id="5" name="Picture 4" descr="The swimlane diagram is illustrated within a table. The three column headings of the table are: homeowner, camera and interface.">
            <a:extLst>
              <a:ext uri="{FF2B5EF4-FFF2-40B4-BE49-F238E27FC236}">
                <a16:creationId xmlns:a16="http://schemas.microsoft.com/office/drawing/2014/main" id="{CB0B163B-0524-4982-9394-9705C1CC77A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265128" y="1388317"/>
            <a:ext cx="4613744" cy="4795656"/>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2910625" y="6297769"/>
            <a:ext cx="3258355" cy="217331"/>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33</a:t>
            </a:fld>
            <a:endParaRPr lang="en-US"/>
          </a:p>
        </p:txBody>
      </p:sp>
    </p:spTree>
    <p:extLst>
      <p:ext uri="{BB962C8B-B14F-4D97-AF65-F5344CB8AC3E}">
        <p14:creationId xmlns:p14="http://schemas.microsoft.com/office/powerpoint/2010/main" val="1498334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solidFill>
                  <a:schemeClr val="tx1"/>
                </a:solidFill>
                <a:latin typeface="Times New Roman" panose="02020603050405020304" pitchFamily="18" charset="0"/>
                <a:cs typeface="Times New Roman" panose="02020603050405020304" pitchFamily="18" charset="0"/>
              </a:rPr>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spTree>
    <p:extLst>
      <p:ext uri="{BB962C8B-B14F-4D97-AF65-F5344CB8AC3E}">
        <p14:creationId xmlns:p14="http://schemas.microsoft.com/office/powerpoint/2010/main" val="334776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latin typeface="Times New Roman" panose="02020603050405020304" pitchFamily="18" charset="0"/>
                <a:cs typeface="Times New Roman" panose="02020603050405020304" pitchFamily="18" charset="0"/>
              </a:rPr>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35</a:t>
            </a:fld>
            <a:endParaRPr lang="en-US"/>
          </a:p>
        </p:txBody>
      </p:sp>
    </p:spTree>
    <p:extLst>
      <p:ext uri="{BB962C8B-B14F-4D97-AF65-F5344CB8AC3E}">
        <p14:creationId xmlns:p14="http://schemas.microsoft.com/office/powerpoint/2010/main" val="4245016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A Bridge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a bridge. Three circles represent the system description, analysis model, and design model. The analysis model overlaps with the system description, and the design model.</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36</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52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Use Case Diagram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a case diagram. The homeowner is connected to the three use cases of a </a:t>
            </a:r>
            <a:r>
              <a:rPr lang="en-US" sz="2400" noProof="0" dirty="0" err="1">
                <a:latin typeface="Times New Roman" panose="02020603050405020304" pitchFamily="18" charset="0"/>
                <a:cs typeface="Times New Roman" panose="02020603050405020304" pitchFamily="18" charset="0"/>
              </a:rPr>
              <a:t>safehome</a:t>
            </a:r>
            <a:r>
              <a:rPr lang="en-US" sz="2400" noProof="0" dirty="0">
                <a:latin typeface="Times New Roman" panose="02020603050405020304" pitchFamily="18" charset="0"/>
                <a:cs typeface="Times New Roman" panose="02020603050405020304" pitchFamily="18" charset="0"/>
              </a:rPr>
              <a:t>. The use cases are, access camera surveillance via the internet, configures </a:t>
            </a:r>
            <a:r>
              <a:rPr lang="en-US" sz="2400" noProof="0" dirty="0" err="1">
                <a:latin typeface="Times New Roman" panose="02020603050405020304" pitchFamily="18" charset="0"/>
                <a:cs typeface="Times New Roman" panose="02020603050405020304" pitchFamily="18" charset="0"/>
              </a:rPr>
              <a:t>safehome</a:t>
            </a:r>
            <a:r>
              <a:rPr lang="en-US" sz="2400" noProof="0" dirty="0">
                <a:latin typeface="Times New Roman" panose="02020603050405020304" pitchFamily="18" charset="0"/>
                <a:cs typeface="Times New Roman" panose="02020603050405020304" pitchFamily="18" charset="0"/>
              </a:rPr>
              <a:t> system parameters, and sets alar. The access camera surveillance via the internet is further connected to cameras.</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5512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C</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R</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C Cards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C</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R</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C cards. The title reads class: floor plan. The space below the title reads description. The card is further divided into two columns titled responsibility, and collaborator. The responsibility reads defines floor plan name or type; manages floor plan positioning; scales floor plan for display; incorporates walls, door, and windows, and shows position of video cameras. The collaborator reads, wall on the column corresponding to incorporates wall, doors, and windows; and camera in the column respective to shows position of video cameras.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63540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Activity Diagram </a:t>
            </a:r>
            <a:r>
              <a:rPr lang="en-US" sz="1000" b="0" noProof="0" dirty="0">
                <a:latin typeface="Times New Roman" panose="02020603050405020304" pitchFamily="18" charset="0"/>
                <a:cs typeface="Times New Roman" panose="02020603050405020304" pitchFamily="18" charset="0"/>
              </a:rPr>
              <a:t>1</a:t>
            </a:r>
            <a:r>
              <a:rPr lang="en-US" sz="4000" noProof="0" dirty="0">
                <a:latin typeface="Times New Roman" panose="02020603050405020304" pitchFamily="18" charset="0"/>
                <a:cs typeface="Times New Roman" panose="02020603050405020304" pitchFamily="18" charset="0"/>
              </a:rPr>
              <a:t>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 flowchart displays an activity diagram. The diagram starts with two possibilities, camera not in use, and camera in use. If the camera in use, get current camera user, and then report camera in use and home of current user. If the camera not in use, the request camera lock. If the camera lock is available, then report camera now locked for user. If the lock is unavailable, then report camera unavailable.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7474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Sequence Diagram </a:t>
            </a:r>
            <a:r>
              <a:rPr lang="en-US" sz="1000" b="0" noProof="0" dirty="0">
                <a:latin typeface="Times New Roman" panose="02020603050405020304" pitchFamily="18" charset="0"/>
                <a:cs typeface="Times New Roman" panose="02020603050405020304" pitchFamily="18" charset="0"/>
              </a:rPr>
              <a:t>2</a:t>
            </a:r>
            <a:r>
              <a:rPr lang="en-US" sz="4000" noProof="0" dirty="0">
                <a:latin typeface="Times New Roman" panose="02020603050405020304" pitchFamily="18" charset="0"/>
                <a:cs typeface="Times New Roman" panose="02020603050405020304" pitchFamily="18" charset="0"/>
              </a:rPr>
              <a:t>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200" noProof="0" dirty="0">
                <a:latin typeface="Times New Roman" panose="02020603050405020304" pitchFamily="18" charset="0"/>
                <a:cs typeface="Times New Roman" panose="02020603050405020304" pitchFamily="18" charset="0"/>
              </a:rPr>
              <a:t>The sequence diagram has four life lines which are labeled, from left to right, homeowner, control panel, system and sensors. When the system is ready the homeowner enters a password which is relayed to the control panel. The control panel begins by reading the message and then performs a compare of the password entered. When comparing the control panel sends a lookup request to the system which return a result. If the password is correct the system sends an activation request to the sensors which over a duration sends a successful activation message to the control panel which further the relays the successful activation message to the homeowner. If the password entered is wrong the homeowner has a maximum number of three tries to enter the correct password. If the three tries are exceeded the system is locked. Locked system has looped timer.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40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36467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State Diagram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200" noProof="0" dirty="0">
                <a:latin typeface="Times New Roman" panose="02020603050405020304" pitchFamily="18" charset="0"/>
                <a:cs typeface="Times New Roman" panose="02020603050405020304" pitchFamily="18" charset="0"/>
              </a:rPr>
              <a:t>The state diagram shows an initial state of the process. After the key is hit the diagram shows a reading state. The reading state transitions the entered password to a comparing state. The comparing state is a shown as a class with a validate password operation. The comparing state has a loop, if password equals incorrect and number of tries greater than maximum number of tries. When number of tries exceeds maximum number of tries the comparing state transitions to a locked state. A locked state has a loop with timer greater than locked time. When timer greater than locked time the locked state transitions back to the reading state. If the password entered is correct the comparing state transitions to a selecting state. Upon a successful activation selecting state transitions back to the reading state.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41</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59186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Activity Diagram </a:t>
            </a:r>
            <a:r>
              <a:rPr lang="en-US" sz="1000" b="0" noProof="0" dirty="0">
                <a:latin typeface="Times New Roman" panose="02020603050405020304" pitchFamily="18" charset="0"/>
                <a:cs typeface="Times New Roman" panose="02020603050405020304" pitchFamily="18" charset="0"/>
              </a:rPr>
              <a:t>2</a:t>
            </a:r>
            <a:r>
              <a:rPr lang="en-US" sz="4000" noProof="0" dirty="0">
                <a:latin typeface="Times New Roman" panose="02020603050405020304" pitchFamily="18" charset="0"/>
                <a:cs typeface="Times New Roman" panose="02020603050405020304" pitchFamily="18" charset="0"/>
              </a:rPr>
              <a:t>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noProof="0" dirty="0">
                <a:latin typeface="Times New Roman" panose="02020603050405020304" pitchFamily="18" charset="0"/>
                <a:cs typeface="Times New Roman" panose="02020603050405020304" pitchFamily="18" charset="0"/>
              </a:rPr>
              <a:t>The activity diagram begins with an initial state. The next activity state is enter password and user I</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D. This initiates a condition. If a password and I</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D are valid and if a password and I</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D are invalid. If invalid, then prompt for reentry activity. This entails another condition. If input tries remain the process loops back to the initial condition at enter password and I</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D if no input tries remain the process reaches an end state. If in the initial condition the valid I</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D and password were entered the next activity is select major function here other functions may also be selected. After this next activity is select surveillance. After selecting surveillance, the user can choose thumbnail views or select a specific camera. Selecting thumbnail, leads to select specific camera thumbnails and selecting a specific camera leads to select camera icon. Both, select specific camera thumbnails and select camera icon lead to view camera in output in labeled window. This leads to prompt for another view. This leads to two condition. First exit this function which leads to a final state or see another camera which loops back to the condition under select surveillance.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42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63288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Swimlane Diagram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1800" noProof="0" dirty="0">
                <a:latin typeface="Times New Roman" panose="02020603050405020304" pitchFamily="18" charset="0"/>
                <a:cs typeface="Times New Roman" panose="02020603050405020304" pitchFamily="18" charset="0"/>
              </a:rPr>
              <a:t>The </a:t>
            </a:r>
            <a:r>
              <a:rPr lang="en-US" sz="1800" noProof="0" dirty="0" err="1">
                <a:latin typeface="Times New Roman" panose="02020603050405020304" pitchFamily="18" charset="0"/>
                <a:cs typeface="Times New Roman" panose="02020603050405020304" pitchFamily="18" charset="0"/>
              </a:rPr>
              <a:t>swimlane</a:t>
            </a:r>
            <a:r>
              <a:rPr lang="en-US" sz="1800" noProof="0" dirty="0">
                <a:latin typeface="Times New Roman" panose="02020603050405020304" pitchFamily="18" charset="0"/>
                <a:cs typeface="Times New Roman" panose="02020603050405020304" pitchFamily="18" charset="0"/>
              </a:rPr>
              <a:t> diagram is illustrated within a table. The three column headings of the table are: homeowner, camera and interface. The flow begins with an initial state in homeowner. The next activity state is enter password and user I</a:t>
            </a:r>
            <a:r>
              <a:rPr lang="en-US" sz="100" noProof="0" dirty="0">
                <a:latin typeface="Times New Roman" panose="02020603050405020304" pitchFamily="18" charset="0"/>
                <a:cs typeface="Times New Roman" panose="02020603050405020304" pitchFamily="18" charset="0"/>
              </a:rPr>
              <a:t> </a:t>
            </a:r>
            <a:r>
              <a:rPr lang="en-US" sz="1800" noProof="0" dirty="0">
                <a:latin typeface="Times New Roman" panose="02020603050405020304" pitchFamily="18" charset="0"/>
                <a:cs typeface="Times New Roman" panose="02020603050405020304" pitchFamily="18" charset="0"/>
              </a:rPr>
              <a:t>D. This initiates a condition in the interface. If a password and I</a:t>
            </a:r>
            <a:r>
              <a:rPr lang="en-US" sz="100" noProof="0" dirty="0">
                <a:latin typeface="Times New Roman" panose="02020603050405020304" pitchFamily="18" charset="0"/>
                <a:cs typeface="Times New Roman" panose="02020603050405020304" pitchFamily="18" charset="0"/>
              </a:rPr>
              <a:t> </a:t>
            </a:r>
            <a:r>
              <a:rPr lang="en-US" sz="1800" noProof="0" dirty="0">
                <a:latin typeface="Times New Roman" panose="02020603050405020304" pitchFamily="18" charset="0"/>
                <a:cs typeface="Times New Roman" panose="02020603050405020304" pitchFamily="18" charset="0"/>
              </a:rPr>
              <a:t>D are valid and if a password and I</a:t>
            </a:r>
            <a:r>
              <a:rPr lang="en-US" sz="100" noProof="0" dirty="0">
                <a:latin typeface="Times New Roman" panose="02020603050405020304" pitchFamily="18" charset="0"/>
                <a:cs typeface="Times New Roman" panose="02020603050405020304" pitchFamily="18" charset="0"/>
              </a:rPr>
              <a:t> </a:t>
            </a:r>
            <a:r>
              <a:rPr lang="en-US" sz="1800" noProof="0" dirty="0">
                <a:latin typeface="Times New Roman" panose="02020603050405020304" pitchFamily="18" charset="0"/>
                <a:cs typeface="Times New Roman" panose="02020603050405020304" pitchFamily="18" charset="0"/>
              </a:rPr>
              <a:t>D are invalid. If invalid, then prompt for reentry activity. This entails another condition also within interface. If input tries remain the process loops back to the initial condition at enter password and I</a:t>
            </a:r>
            <a:r>
              <a:rPr lang="en-US" sz="100" noProof="0" dirty="0">
                <a:latin typeface="Times New Roman" panose="02020603050405020304" pitchFamily="18" charset="0"/>
                <a:cs typeface="Times New Roman" panose="02020603050405020304" pitchFamily="18" charset="0"/>
              </a:rPr>
              <a:t> </a:t>
            </a:r>
            <a:r>
              <a:rPr lang="en-US" sz="1800" noProof="0" dirty="0">
                <a:latin typeface="Times New Roman" panose="02020603050405020304" pitchFamily="18" charset="0"/>
                <a:cs typeface="Times New Roman" panose="02020603050405020304" pitchFamily="18" charset="0"/>
              </a:rPr>
              <a:t>D if no input tries remain the process reaches an end state. If in the initial condition the valid I</a:t>
            </a:r>
            <a:r>
              <a:rPr lang="en-US" sz="100" noProof="0" dirty="0">
                <a:latin typeface="Times New Roman" panose="02020603050405020304" pitchFamily="18" charset="0"/>
                <a:cs typeface="Times New Roman" panose="02020603050405020304" pitchFamily="18" charset="0"/>
              </a:rPr>
              <a:t> </a:t>
            </a:r>
            <a:r>
              <a:rPr lang="en-US" sz="1800" noProof="0" dirty="0">
                <a:latin typeface="Times New Roman" panose="02020603050405020304" pitchFamily="18" charset="0"/>
                <a:cs typeface="Times New Roman" panose="02020603050405020304" pitchFamily="18" charset="0"/>
              </a:rPr>
              <a:t>D and password were entered the next activity is select major function, under homeowner, here other functions may also be selected. After this next activity is select surveillance. After selecting surveillance, the user can choose thumbnail views or select a specific camera. Selecting thumbnail, leads to select specific camera thumbnails and selecting a specific camera leads to select camera icon. Both, select specific camera thumbnails and select camera icon lead to, the activity, generate video output, under the column camera. Generate video output leads to view camera in output in labeled window, under homeowner. This leads to prompt for another view under interface. This leads to two conditions. First exit this function which leads to a final state or see another camera which loops back to the condition under select surveillance.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43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1692745"/>
      </p:ext>
    </p:extLst>
  </p:cSld>
  <p:clrMapOvr>
    <a:masterClrMapping/>
  </p:clrMapOvr>
</p:sld>
</file>

<file path=ppt/theme/theme1.xml><?xml version="1.0" encoding="utf-8"?>
<a:theme xmlns:a="http://schemas.openxmlformats.org/drawingml/2006/main" name="Title Slides Master">
  <a:themeElements>
    <a:clrScheme name="Custom 26">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Custom 27">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29">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1440</TotalTime>
  <Words>3557</Words>
  <Application>Microsoft Office PowerPoint</Application>
  <PresentationFormat>全屏显示(4:3)</PresentationFormat>
  <Paragraphs>246</Paragraphs>
  <Slides>43</Slides>
  <Notes>0</Notes>
  <HiddenSlides>0</HiddenSlides>
  <MMClips>0</MMClips>
  <ScaleCrop>false</ScaleCrop>
  <HeadingPairs>
    <vt:vector size="6" baseType="variant">
      <vt:variant>
        <vt:lpstr>已用的字体</vt:lpstr>
      </vt:variant>
      <vt:variant>
        <vt:i4>2</vt:i4>
      </vt:variant>
      <vt:variant>
        <vt:lpstr>主题</vt:lpstr>
      </vt:variant>
      <vt:variant>
        <vt:i4>5</vt:i4>
      </vt:variant>
      <vt:variant>
        <vt:lpstr>幻灯片标题</vt:lpstr>
      </vt:variant>
      <vt:variant>
        <vt:i4>43</vt:i4>
      </vt:variant>
    </vt:vector>
  </HeadingPairs>
  <TitlesOfParts>
    <vt:vector size="50" baseType="lpstr">
      <vt:lpstr>Arial</vt:lpstr>
      <vt:lpstr>Times New Roman</vt:lpstr>
      <vt:lpstr>Title Slides Master</vt:lpstr>
      <vt:lpstr>MainContentSlideMaster</vt:lpstr>
      <vt:lpstr>ClosingMaster</vt:lpstr>
      <vt:lpstr>DividerSlideMaster</vt:lpstr>
      <vt:lpstr>ImageDescriptionAppendixSlideMaster</vt:lpstr>
      <vt:lpstr>Chapter 8</vt:lpstr>
      <vt:lpstr>Requirements Analysis</vt:lpstr>
      <vt:lpstr>Requirements Models</vt:lpstr>
      <vt:lpstr>A Bridge</vt:lpstr>
      <vt:lpstr>Rules of Thumb</vt:lpstr>
      <vt:lpstr>Requirements Modeling Principles</vt:lpstr>
      <vt:lpstr>Scenario-Based Modeling: Actors and Profiles</vt:lpstr>
      <vt:lpstr>Use Cases</vt:lpstr>
      <vt:lpstr>What to Write About?</vt:lpstr>
      <vt:lpstr>Alternative Interactions</vt:lpstr>
      <vt:lpstr>Defining Exceptions</vt:lpstr>
      <vt:lpstr>Documenting Use Cases</vt:lpstr>
      <vt:lpstr>Use Case Diagram</vt:lpstr>
      <vt:lpstr>Class-Based Modeling</vt:lpstr>
      <vt:lpstr>Identifying Analysis Classes</vt:lpstr>
      <vt:lpstr>Potential Analysis Classes</vt:lpstr>
      <vt:lpstr>Analysis Class Selection</vt:lpstr>
      <vt:lpstr>Defining Attributes</vt:lpstr>
      <vt:lpstr>Defining Operations</vt:lpstr>
      <vt:lpstr>C R C Modeling</vt:lpstr>
      <vt:lpstr>C R C Cards</vt:lpstr>
      <vt:lpstr>C R C Model Review Process</vt:lpstr>
      <vt:lpstr>Functional Modeling</vt:lpstr>
      <vt:lpstr>Activity Diagram 1</vt:lpstr>
      <vt:lpstr>Behavioral Modeling</vt:lpstr>
      <vt:lpstr>Sequence Diagram 1</vt:lpstr>
      <vt:lpstr>Sequence Diagram 2</vt:lpstr>
      <vt:lpstr>Creating Behavioral Models</vt:lpstr>
      <vt:lpstr>Identifying Events</vt:lpstr>
      <vt:lpstr>State Diagram</vt:lpstr>
      <vt:lpstr>Activity Diagram 2</vt:lpstr>
      <vt:lpstr>Swimlane Diagrams</vt:lpstr>
      <vt:lpstr>Swimlane Diagram</vt:lpstr>
      <vt:lpstr>End of Main Content</vt:lpstr>
      <vt:lpstr>Accessibility Content: Text Alternatives for Images</vt:lpstr>
      <vt:lpstr>A Bridge – Text Alternative</vt:lpstr>
      <vt:lpstr>Use Case Diagram – Text Alternative</vt:lpstr>
      <vt:lpstr>C R C Cards – Text Alternative</vt:lpstr>
      <vt:lpstr>Activity Diagram 1 – Text Alternative</vt:lpstr>
      <vt:lpstr>Sequence Diagram 2 – Text Alternative</vt:lpstr>
      <vt:lpstr>State Diagram – Text Alternative</vt:lpstr>
      <vt:lpstr>Activity Diagram 2 – Text Alternative</vt:lpstr>
      <vt:lpstr>Swimlane Diagram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海宁 张</cp:lastModifiedBy>
  <cp:revision>114</cp:revision>
  <dcterms:created xsi:type="dcterms:W3CDTF">2019-01-22T22:04:31Z</dcterms:created>
  <dcterms:modified xsi:type="dcterms:W3CDTF">2023-10-18T03:44:07Z</dcterms:modified>
</cp:coreProperties>
</file>