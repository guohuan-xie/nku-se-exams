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sldIdLst>
    <p:sldId id="286" r:id="rId6"/>
    <p:sldId id="266" r:id="rId7"/>
    <p:sldId id="267" r:id="rId8"/>
    <p:sldId id="268" r:id="rId9"/>
    <p:sldId id="269" r:id="rId10"/>
    <p:sldId id="273" r:id="rId11"/>
    <p:sldId id="277" r:id="rId12"/>
    <p:sldId id="285" r:id="rId13"/>
    <p:sldId id="274" r:id="rId14"/>
    <p:sldId id="284" r:id="rId15"/>
    <p:sldId id="275" r:id="rId16"/>
    <p:sldId id="283" r:id="rId17"/>
    <p:sldId id="276" r:id="rId18"/>
    <p:sldId id="282" r:id="rId19"/>
    <p:sldId id="288" r:id="rId20"/>
    <p:sldId id="260" r:id="rId21"/>
    <p:sldId id="258" r:id="rId22"/>
    <p:sldId id="264" r:id="rId23"/>
    <p:sldId id="278" r:id="rId24"/>
    <p:sldId id="287" r:id="rId25"/>
    <p:sldId id="280" r:id="rId26"/>
    <p:sldId id="281"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286"/>
            <p14:sldId id="266"/>
            <p14:sldId id="267"/>
            <p14:sldId id="268"/>
            <p14:sldId id="269"/>
            <p14:sldId id="273"/>
            <p14:sldId id="277"/>
            <p14:sldId id="285"/>
            <p14:sldId id="274"/>
            <p14:sldId id="284"/>
            <p14:sldId id="275"/>
            <p14:sldId id="283"/>
            <p14:sldId id="276"/>
            <p14:sldId id="282"/>
            <p14:sldId id="288"/>
            <p14:sldId id="260"/>
          </p14:sldIdLst>
        </p14:section>
        <p14:section name="Appendix: Image Descriptions for Unsighted Students" id="{9E859B0B-078E-463E-89A6-21C20DD280C4}">
          <p14:sldIdLst>
            <p14:sldId id="258"/>
            <p14:sldId id="264"/>
            <p14:sldId id="278"/>
            <p14:sldId id="287"/>
            <p14:sldId id="280"/>
            <p14:sldId id="281"/>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cmAuthor id="2" name="Ciporen, Laura" initials="CL [2]"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603" autoAdjust="0"/>
    <p:restoredTop sz="86375" autoAdjust="0"/>
  </p:normalViewPr>
  <p:slideViewPr>
    <p:cSldViewPr snapToGrid="0" showGuides="1">
      <p:cViewPr varScale="1">
        <p:scale>
          <a:sx n="79" d="100"/>
          <a:sy n="79" d="100"/>
        </p:scale>
        <p:origin x="852" y="68"/>
      </p:cViewPr>
      <p:guideLst>
        <p:guide pos="3264"/>
        <p:guide orient="horz" pos="2256"/>
        <p:guide pos="5640"/>
      </p:guideLst>
    </p:cSldViewPr>
  </p:slideViewPr>
  <p:outlineViewPr>
    <p:cViewPr>
      <p:scale>
        <a:sx n="33" d="100"/>
        <a:sy n="33" d="100"/>
      </p:scale>
      <p:origin x="0" y="-15758"/>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descr="McGraw-Hill Education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692571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descr="McGraw-Hill Education Logo">
            <a:extLst>
              <a:ext uri="{FF2B5EF4-FFF2-40B4-BE49-F238E27FC236}">
                <a16:creationId xmlns:a16="http://schemas.microsoft.com/office/drawing/2014/main" id="{BF372B49-B6F5-4826-B4F8-2F8A4FFF889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lumMod val="65000"/>
                    <a:lumOff val="35000"/>
                  </a:schemeClr>
                </a:solidFill>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image" Target="../media/image3.jp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5.jp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image" Target="../media/image6.jp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7.jp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14C897A-4409-4F96-826A-7AE9F1281913}"/>
              </a:ext>
            </a:extLst>
          </p:cNvPr>
          <p:cNvSpPr>
            <a:spLocks noGrp="1"/>
          </p:cNvSpPr>
          <p:nvPr>
            <p:ph type="ctrTitle"/>
          </p:nvPr>
        </p:nvSpPr>
        <p:spPr/>
        <p:txBody>
          <a:bodyPr/>
          <a:lstStyle/>
          <a:p>
            <a:r>
              <a:rPr lang="en-US" noProof="0" dirty="0">
                <a:latin typeface="Times New Roman" panose="02020603050405020304" pitchFamily="18" charset="0"/>
                <a:cs typeface="Times New Roman" panose="02020603050405020304" pitchFamily="18" charset="0"/>
              </a:rPr>
              <a:t>Chapter 3</a:t>
            </a:r>
          </a:p>
        </p:txBody>
      </p:sp>
      <p:sp>
        <p:nvSpPr>
          <p:cNvPr id="13" name="Subtitle 12">
            <a:extLst>
              <a:ext uri="{FF2B5EF4-FFF2-40B4-BE49-F238E27FC236}">
                <a16:creationId xmlns:a16="http://schemas.microsoft.com/office/drawing/2014/main" id="{39DC5F79-D657-4B2E-8FAB-C143E5618948}"/>
              </a:ext>
            </a:extLst>
          </p:cNvPr>
          <p:cNvSpPr>
            <a:spLocks noGrp="1"/>
          </p:cNvSpPr>
          <p:nvPr>
            <p:ph type="subTitle" idx="1"/>
          </p:nvPr>
        </p:nvSpPr>
        <p:spPr/>
        <p:txBody>
          <a:bodyPr/>
          <a:lstStyle/>
          <a:p>
            <a:r>
              <a:rPr lang="en-US" noProof="0" dirty="0"/>
              <a:t>Agility and Process</a:t>
            </a:r>
          </a:p>
        </p:txBody>
      </p:sp>
      <p:sp>
        <p:nvSpPr>
          <p:cNvPr id="14" name="Text Placeholder 13">
            <a:extLst>
              <a:ext uri="{FF2B5EF4-FFF2-40B4-BE49-F238E27FC236}">
                <a16:creationId xmlns:a16="http://schemas.microsoft.com/office/drawing/2014/main" id="{A59F268B-4D44-410E-9686-AEB4FDBAB432}"/>
              </a:ext>
            </a:extLst>
          </p:cNvPr>
          <p:cNvSpPr>
            <a:spLocks noGrp="1"/>
          </p:cNvSpPr>
          <p:nvPr>
            <p:ph type="body" sz="quarter" idx="10"/>
          </p:nvPr>
        </p:nvSpPr>
        <p:spPr/>
        <p:txBody>
          <a:bodyPr/>
          <a:lstStyle/>
          <a:p>
            <a:r>
              <a:rPr lang="en-US" noProof="0" dirty="0">
                <a:latin typeface="Times New Roman" panose="02020603050405020304" pitchFamily="18" charset="0"/>
                <a:cs typeface="Times New Roman" panose="02020603050405020304" pitchFamily="18" charset="0"/>
              </a:rPr>
              <a:t>Part 1 - The Software Process</a:t>
            </a:r>
          </a:p>
        </p:txBody>
      </p:sp>
      <p:pic>
        <p:nvPicPr>
          <p:cNvPr id="4" name="Picture Placeholder 3" descr="Software Engineering-A Practitioner's Approach, 9e by Roger S. Pressman and Bruce R. Maxim">
            <a:extLst>
              <a:ext uri="{FF2B5EF4-FFF2-40B4-BE49-F238E27FC236}">
                <a16:creationId xmlns:a16="http://schemas.microsoft.com/office/drawing/2014/main" id="{F931430B-C7B5-4B32-83F1-F94512FA5900}"/>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2502" b="2502"/>
          <a:stretch>
            <a:fillRect/>
          </a:stretch>
        </p:blipFill>
        <p:spPr>
          <a:xfrm>
            <a:off x="4438835" y="1175021"/>
            <a:ext cx="4229100" cy="4976453"/>
          </a:xfrm>
        </p:spPr>
      </p:pic>
      <p:sp>
        <p:nvSpPr>
          <p:cNvPr id="6" name="Footer Placeholder 5">
            <a:extLst>
              <a:ext uri="{FF2B5EF4-FFF2-40B4-BE49-F238E27FC236}">
                <a16:creationId xmlns:a16="http://schemas.microsoft.com/office/drawing/2014/main" id="{5075BF32-B42F-470F-B1EE-DD2931D140AA}"/>
              </a:ext>
            </a:extLst>
          </p:cNvPr>
          <p:cNvSpPr>
            <a:spLocks noGrp="1"/>
          </p:cNvSpPr>
          <p:nvPr>
            <p:ph type="ftr" sz="quarter" idx="12"/>
          </p:nvPr>
        </p:nvSpPr>
        <p:spPr>
          <a:xfrm>
            <a:off x="0" y="6478439"/>
            <a:ext cx="9144000" cy="379562"/>
          </a:xfrm>
        </p:spPr>
        <p:txBody>
          <a:bodyPr/>
          <a:lstStyle/>
          <a:p>
            <a:pPr defTabSz="457200">
              <a:spcBef>
                <a:spcPct val="20000"/>
              </a:spcBef>
              <a:defRPr/>
            </a:pPr>
            <a:r>
              <a:rPr lang="en-US" dirty="0">
                <a:latin typeface="Times New Roman" panose="02020603050405020304" pitchFamily="18" charset="0"/>
                <a:cs typeface="Times New Roman" panose="02020603050405020304" pitchFamily="18" charset="0"/>
              </a:rPr>
              <a:t>© 2020 McGraw Hill. All rights reserved. Authorized only for instructor use in the classroom.</a:t>
            </a:r>
          </a:p>
          <a:p>
            <a:pPr defTabSz="457200">
              <a:spcBef>
                <a:spcPct val="20000"/>
              </a:spcBef>
              <a:defRPr/>
            </a:pPr>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 Hill.</a:t>
            </a:r>
          </a:p>
        </p:txBody>
      </p:sp>
    </p:spTree>
    <p:extLst>
      <p:ext uri="{BB962C8B-B14F-4D97-AF65-F5344CB8AC3E}">
        <p14:creationId xmlns:p14="http://schemas.microsoft.com/office/powerpoint/2010/main" val="309696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ea typeface="Tahoma" panose="020B0604030504040204" pitchFamily="34" charset="0"/>
                <a:cs typeface="Times New Roman" panose="02020603050405020304" pitchFamily="18" charset="0"/>
              </a:rPr>
              <a:t>What is Agility?</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45135"/>
            <a:ext cx="8458200" cy="2617239"/>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ea typeface="Tahoma" panose="020B0604030504040204" pitchFamily="34" charset="0"/>
                <a:cs typeface="Times New Roman" panose="02020603050405020304" pitchFamily="18" charset="0"/>
              </a:rPr>
              <a:t>Effective (rapid and adaptive) response to change.</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ea typeface="Tahoma" panose="020B0604030504040204" pitchFamily="34" charset="0"/>
                <a:cs typeface="Times New Roman" panose="02020603050405020304" pitchFamily="18" charset="0"/>
              </a:rPr>
              <a:t>Effective communication among all stakeholders.</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ea typeface="Tahoma" panose="020B0604030504040204" pitchFamily="34" charset="0"/>
                <a:cs typeface="Times New Roman" panose="02020603050405020304" pitchFamily="18" charset="0"/>
              </a:rPr>
              <a:t>Drawing the customer onto the team.</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ea typeface="Tahoma" panose="020B0604030504040204" pitchFamily="34" charset="0"/>
                <a:cs typeface="Times New Roman" panose="02020603050405020304" pitchFamily="18" charset="0"/>
              </a:rPr>
              <a:t>Organizing a team so that it is in control of the work performed.</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ea typeface="Tahoma" panose="020B0604030504040204" pitchFamily="34" charset="0"/>
                <a:cs typeface="Times New Roman" panose="02020603050405020304" pitchFamily="18" charset="0"/>
              </a:rPr>
              <a:t>Rapid, incremental delivery of software.</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ea typeface="Tahoma" panose="020B0604030504040204" pitchFamily="34" charset="0"/>
                <a:cs typeface="Times New Roman" panose="02020603050405020304" pitchFamily="18" charset="0"/>
              </a:rPr>
              <a:pPr/>
              <a:t>2</a:t>
            </a:fld>
            <a:endParaRPr lang="en-US"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327580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Agility and Cost of Change</a:t>
            </a:r>
          </a:p>
        </p:txBody>
      </p:sp>
      <p:pic>
        <p:nvPicPr>
          <p:cNvPr id="10" name="Picture 9" descr="An agility and cost of change graph. The graph plots development schedule progress on the x axis, and development cost on the y axis.">
            <a:extLst>
              <a:ext uri="{FF2B5EF4-FFF2-40B4-BE49-F238E27FC236}">
                <a16:creationId xmlns:a16="http://schemas.microsoft.com/office/drawing/2014/main" id="{F094B583-E676-4377-9EE3-FC201C9C27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5306" y="1203543"/>
            <a:ext cx="6226277" cy="4719362"/>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2095332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What is an Agile Process?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62229"/>
            <a:ext cx="8458200" cy="4739969"/>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Driven by customer descriptions of what is required (scenarios).</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Customer feedback is frequent and acted on.</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Recognizes that plans are short-lived.</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Develops software iteratively with a heavy emphasis on construction activities.</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Delivers multiple ‘software increments’ as executable prototypes.</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Adapts as project or technical changes occur.</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4</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1860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Agility Principles </a:t>
            </a:r>
            <a:r>
              <a:rPr lang="en-US" sz="1000" b="0" noProof="0" dirty="0">
                <a:latin typeface="Times New Roman" panose="02020603050405020304" pitchFamily="18" charset="0"/>
                <a:cs typeface="Times New Roman" panose="02020603050405020304" pitchFamily="18" charset="0"/>
              </a:rPr>
              <a:t>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97197"/>
            <a:ext cx="8458200" cy="4971691"/>
          </a:xfrm>
        </p:spPr>
        <p:txBody>
          <a:bodyPr vert="horz" lIns="91440" tIns="45720" rIns="91440" bIns="45720" rtlCol="0">
            <a:noAutofit/>
          </a:bodyPr>
          <a:lstStyle/>
          <a:p>
            <a:pPr marL="291600" indent="-291600" rtl="0" eaLnBrk="1" latinLnBrk="0" hangingPunct="1">
              <a:spcBef>
                <a:spcPts val="1000"/>
              </a:spcBef>
              <a:spcAft>
                <a:spcPts val="0"/>
              </a:spcAft>
              <a:buFont typeface="Arial" panose="020B0604020202020204" pitchFamily="34" charset="0"/>
              <a:buChar char="•"/>
            </a:pPr>
            <a:r>
              <a:rPr lang="en-US" sz="2400" kern="1200" noProof="0" dirty="0">
                <a:solidFill>
                  <a:schemeClr val="tx2"/>
                </a:solidFill>
                <a:effectLst/>
                <a:latin typeface="Times New Roman" panose="02020603050405020304" pitchFamily="18" charset="0"/>
                <a:cs typeface="Times New Roman" panose="02020603050405020304" pitchFamily="18" charset="0"/>
              </a:rPr>
              <a:t>Customer satisfaction is achieved by providing value through software that is delivered to the customer as rapidly as possible.</a:t>
            </a:r>
            <a:endParaRPr lang="en-US" sz="2400" noProof="0" dirty="0">
              <a:effectLst/>
              <a:latin typeface="Times New Roman" panose="02020603050405020304" pitchFamily="18" charset="0"/>
              <a:cs typeface="Times New Roman" panose="02020603050405020304" pitchFamily="18" charset="0"/>
            </a:endParaRPr>
          </a:p>
          <a:p>
            <a:pPr marL="291600" indent="-291600" rtl="0" eaLnBrk="1" latinLnBrk="0" hangingPunct="1">
              <a:spcBef>
                <a:spcPts val="1000"/>
              </a:spcBef>
              <a:spcAft>
                <a:spcPts val="0"/>
              </a:spcAft>
              <a:buFont typeface="Arial" panose="020B0604020202020204" pitchFamily="34" charset="0"/>
              <a:buChar char="•"/>
            </a:pPr>
            <a:r>
              <a:rPr lang="en-US" sz="2400" kern="1200" noProof="0" dirty="0">
                <a:solidFill>
                  <a:schemeClr val="tx2"/>
                </a:solidFill>
                <a:effectLst/>
                <a:latin typeface="Times New Roman" panose="02020603050405020304" pitchFamily="18" charset="0"/>
                <a:cs typeface="Times New Roman" panose="02020603050405020304" pitchFamily="18" charset="0"/>
              </a:rPr>
              <a:t>Developers recognize that requirements will change and welcome changes.</a:t>
            </a:r>
            <a:endParaRPr lang="en-US" sz="2400" noProof="0" dirty="0">
              <a:effectLst/>
              <a:latin typeface="Times New Roman" panose="02020603050405020304" pitchFamily="18" charset="0"/>
              <a:cs typeface="Times New Roman" panose="02020603050405020304" pitchFamily="18" charset="0"/>
            </a:endParaRPr>
          </a:p>
          <a:p>
            <a:pPr marL="291600" indent="-291600" rtl="0" eaLnBrk="1" latinLnBrk="0" hangingPunct="1">
              <a:spcBef>
                <a:spcPts val="1000"/>
              </a:spcBef>
              <a:spcAft>
                <a:spcPts val="0"/>
              </a:spcAft>
              <a:buFont typeface="Arial" panose="020B0604020202020204" pitchFamily="34" charset="0"/>
              <a:buChar char="•"/>
            </a:pPr>
            <a:r>
              <a:rPr lang="en-US" sz="2400" kern="1200" noProof="0" dirty="0">
                <a:solidFill>
                  <a:schemeClr val="tx2"/>
                </a:solidFill>
                <a:effectLst/>
                <a:latin typeface="Times New Roman" panose="02020603050405020304" pitchFamily="18" charset="0"/>
                <a:cs typeface="Times New Roman" panose="02020603050405020304" pitchFamily="18" charset="0"/>
              </a:rPr>
              <a:t>Deliver software increments frequently (weeks not months) to stakeholders to ensure feedback on their deliveries is meaningful.</a:t>
            </a:r>
            <a:endParaRPr lang="en-US" sz="2400" noProof="0" dirty="0">
              <a:effectLst/>
              <a:latin typeface="Times New Roman" panose="02020603050405020304" pitchFamily="18" charset="0"/>
              <a:cs typeface="Times New Roman" panose="02020603050405020304" pitchFamily="18" charset="0"/>
            </a:endParaRPr>
          </a:p>
          <a:p>
            <a:pPr marL="291600" indent="-291600" rtl="0" eaLnBrk="1" latinLnBrk="0" hangingPunct="1">
              <a:spcBef>
                <a:spcPts val="1000"/>
              </a:spcBef>
              <a:spcAft>
                <a:spcPts val="0"/>
              </a:spcAft>
              <a:buFont typeface="Arial" panose="020B0604020202020204" pitchFamily="34" charset="0"/>
              <a:buChar char="•"/>
            </a:pPr>
            <a:r>
              <a:rPr lang="en-US" sz="2400" kern="1200" noProof="0" dirty="0">
                <a:solidFill>
                  <a:schemeClr val="tx2"/>
                </a:solidFill>
                <a:effectLst/>
                <a:latin typeface="Times New Roman" panose="02020603050405020304" pitchFamily="18" charset="0"/>
                <a:cs typeface="Times New Roman" panose="02020603050405020304" pitchFamily="18" charset="0"/>
              </a:rPr>
              <a:t>Agile team populated by motivated individuals using face-to-face communication to convey information.</a:t>
            </a:r>
            <a:endParaRPr lang="en-US" sz="2400" noProof="0" dirty="0">
              <a:effectLst/>
              <a:latin typeface="Times New Roman" panose="02020603050405020304" pitchFamily="18" charset="0"/>
              <a:cs typeface="Times New Roman" panose="02020603050405020304" pitchFamily="18" charset="0"/>
            </a:endParaRPr>
          </a:p>
          <a:p>
            <a:pPr marL="291600" indent="-291600" rtl="0" eaLnBrk="1" latinLnBrk="0" hangingPunct="1">
              <a:spcBef>
                <a:spcPts val="1000"/>
              </a:spcBef>
              <a:spcAft>
                <a:spcPts val="0"/>
              </a:spcAft>
              <a:buFont typeface="Arial" panose="020B0604020202020204" pitchFamily="34" charset="0"/>
              <a:buChar char="•"/>
            </a:pPr>
            <a:r>
              <a:rPr lang="en-US" sz="2400" kern="1200" noProof="0" dirty="0">
                <a:solidFill>
                  <a:schemeClr val="tx2"/>
                </a:solidFill>
                <a:effectLst/>
                <a:latin typeface="Times New Roman" panose="02020603050405020304" pitchFamily="18" charset="0"/>
                <a:cs typeface="Times New Roman" panose="02020603050405020304" pitchFamily="18" charset="0"/>
              </a:rPr>
              <a:t>Team process encourages technical excellence, good design, simplicity, and avoids unnecessary work.</a:t>
            </a:r>
            <a:endParaRPr lang="en-US" altLang="en-US" sz="24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3036720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Agility Principles </a:t>
            </a:r>
            <a:r>
              <a:rPr lang="en-US" sz="1000" b="0" noProof="0" dirty="0">
                <a:latin typeface="Times New Roman" panose="02020603050405020304" pitchFamily="18" charset="0"/>
                <a:cs typeface="Times New Roman" panose="02020603050405020304" pitchFamily="18" charset="0"/>
              </a:rPr>
              <a:t>2</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92695"/>
            <a:ext cx="8458200" cy="4715075"/>
          </a:xfrm>
        </p:spPr>
        <p:txBody>
          <a:bodyPr vert="horz" lIns="91440" tIns="45720" rIns="91440" bIns="45720" rtlCol="0">
            <a:noAutofit/>
          </a:bodyPr>
          <a:lstStyle/>
          <a:p>
            <a:pPr marL="291600" indent="-291600" rtl="0" eaLnBrk="1" latinLnBrk="0" hangingPunct="1">
              <a:spcBef>
                <a:spcPts val="1000"/>
              </a:spcBef>
              <a:spcAft>
                <a:spcPts val="0"/>
              </a:spcAft>
              <a:buFont typeface="Arial" panose="020B0604020202020204" pitchFamily="34" charset="0"/>
              <a:buChar char="•"/>
            </a:pPr>
            <a:r>
              <a:rPr lang="en-US" sz="2400" kern="1200" noProof="0" dirty="0">
                <a:solidFill>
                  <a:schemeClr val="tx2"/>
                </a:solidFill>
                <a:effectLst/>
                <a:latin typeface="Times New Roman" panose="02020603050405020304" pitchFamily="18" charset="0"/>
                <a:cs typeface="Times New Roman" panose="02020603050405020304" pitchFamily="18" charset="0"/>
              </a:rPr>
              <a:t>Working software that meets customer needs is the primary goal.</a:t>
            </a:r>
            <a:endParaRPr lang="en-US" sz="2400" noProof="0" dirty="0">
              <a:effectLst/>
              <a:latin typeface="Times New Roman" panose="02020603050405020304" pitchFamily="18" charset="0"/>
              <a:cs typeface="Times New Roman" panose="02020603050405020304" pitchFamily="18" charset="0"/>
            </a:endParaRPr>
          </a:p>
          <a:p>
            <a:pPr marL="291600" indent="-291600" rtl="0" eaLnBrk="1" latinLnBrk="0" hangingPunct="1">
              <a:spcBef>
                <a:spcPts val="1000"/>
              </a:spcBef>
              <a:spcAft>
                <a:spcPts val="0"/>
              </a:spcAft>
              <a:buFont typeface="Arial" panose="020B0604020202020204" pitchFamily="34" charset="0"/>
              <a:buChar char="•"/>
            </a:pPr>
            <a:r>
              <a:rPr lang="en-US" sz="2400" kern="1200" noProof="0" dirty="0">
                <a:solidFill>
                  <a:schemeClr val="tx2"/>
                </a:solidFill>
                <a:effectLst/>
                <a:latin typeface="Times New Roman" panose="02020603050405020304" pitchFamily="18" charset="0"/>
                <a:cs typeface="Times New Roman" panose="02020603050405020304" pitchFamily="18" charset="0"/>
              </a:rPr>
              <a:t>Pace and direction of the team’s work must be “sustainable,” enabling them to work effectively for long periods of time.</a:t>
            </a:r>
            <a:endParaRPr lang="en-US" sz="2400" noProof="0" dirty="0">
              <a:effectLst/>
              <a:latin typeface="Times New Roman" panose="02020603050405020304" pitchFamily="18" charset="0"/>
              <a:cs typeface="Times New Roman" panose="02020603050405020304" pitchFamily="18" charset="0"/>
            </a:endParaRPr>
          </a:p>
          <a:p>
            <a:pPr marL="291600" indent="-291600" rtl="0" eaLnBrk="1" latinLnBrk="0" hangingPunct="1">
              <a:spcBef>
                <a:spcPts val="1000"/>
              </a:spcBef>
              <a:spcAft>
                <a:spcPts val="0"/>
              </a:spcAft>
              <a:buFont typeface="Arial" panose="020B0604020202020204" pitchFamily="34" charset="0"/>
              <a:buChar char="•"/>
            </a:pPr>
            <a:r>
              <a:rPr lang="en-US" sz="2400" kern="1200" noProof="0" dirty="0">
                <a:solidFill>
                  <a:schemeClr val="tx2"/>
                </a:solidFill>
                <a:effectLst/>
                <a:latin typeface="Times New Roman" panose="02020603050405020304" pitchFamily="18" charset="0"/>
                <a:cs typeface="Times New Roman" panose="02020603050405020304" pitchFamily="18" charset="0"/>
              </a:rPr>
              <a:t>An agile team is a “self-organizing team”—one that can be trusted develop well-structured architectures that lead to solid designs and customer satisfaction.</a:t>
            </a:r>
            <a:endParaRPr lang="en-US" sz="2400" noProof="0" dirty="0">
              <a:effectLst/>
              <a:latin typeface="Times New Roman" panose="02020603050405020304" pitchFamily="18" charset="0"/>
              <a:cs typeface="Times New Roman" panose="02020603050405020304" pitchFamily="18" charset="0"/>
            </a:endParaRPr>
          </a:p>
          <a:p>
            <a:pPr marL="291600" indent="-291600" rtl="0" eaLnBrk="1" latinLnBrk="0" hangingPunct="1">
              <a:spcBef>
                <a:spcPts val="1000"/>
              </a:spcBef>
              <a:spcAft>
                <a:spcPts val="0"/>
              </a:spcAft>
              <a:buFont typeface="Arial" panose="020B0604020202020204" pitchFamily="34" charset="0"/>
              <a:buChar char="•"/>
            </a:pPr>
            <a:r>
              <a:rPr lang="en-US" sz="2400" kern="1200" noProof="0" dirty="0">
                <a:solidFill>
                  <a:schemeClr val="tx2"/>
                </a:solidFill>
                <a:effectLst/>
                <a:latin typeface="Times New Roman" panose="02020603050405020304" pitchFamily="18" charset="0"/>
                <a:cs typeface="Times New Roman" panose="02020603050405020304" pitchFamily="18" charset="0"/>
              </a:rPr>
              <a:t>Part of the team culture is to consider its work introspectively with the intent of improving how to become more effective for its primary goal (customer satisfaction).</a:t>
            </a:r>
            <a:endParaRPr lang="en-US" altLang="en-US" sz="24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2225396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Scrum Framework</a:t>
            </a:r>
          </a:p>
        </p:txBody>
      </p:sp>
      <p:pic>
        <p:nvPicPr>
          <p:cNvPr id="10" name="Picture 9" descr="An illustration displays scrum framework with product backlog and sprint backlog. ">
            <a:extLst>
              <a:ext uri="{FF2B5EF4-FFF2-40B4-BE49-F238E27FC236}">
                <a16:creationId xmlns:a16="http://schemas.microsoft.com/office/drawing/2014/main" id="{C769E867-5472-4C92-BFBA-4D468FB585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632" y="1427869"/>
            <a:ext cx="7671404" cy="3951929"/>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4045939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Scrum Details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4610840" cy="4781191"/>
          </a:xfrm>
        </p:spPr>
        <p:txBody>
          <a:bodyPr vert="horz" lIns="91440" tIns="45720" rIns="91440" bIns="45720" rtlCol="0">
            <a:noAutofit/>
          </a:bodyPr>
          <a:lstStyle/>
          <a:p>
            <a:pPr marL="291600" indent="-291600" rtl="0" eaLnBrk="1" latinLnBrk="0" hangingPunct="1">
              <a:spcBef>
                <a:spcPts val="1000"/>
              </a:spcBef>
              <a:spcAft>
                <a:spcPts val="0"/>
              </a:spcAft>
              <a:buFont typeface="Arial" panose="020B0604020202020204" pitchFamily="34" charset="0"/>
              <a:buChar char="•"/>
            </a:pPr>
            <a:r>
              <a:rPr lang="en-US" sz="1800" b="1" kern="1200" noProof="0" dirty="0">
                <a:solidFill>
                  <a:schemeClr val="tx2"/>
                </a:solidFill>
                <a:effectLst/>
                <a:latin typeface="Times New Roman" panose="02020603050405020304" pitchFamily="18" charset="0"/>
                <a:cs typeface="Times New Roman" panose="02020603050405020304" pitchFamily="18" charset="0"/>
              </a:rPr>
              <a:t>Backlog Refinement Meeting </a:t>
            </a:r>
            <a:r>
              <a:rPr lang="en-US" sz="1800" kern="1200" noProof="0" dirty="0">
                <a:solidFill>
                  <a:schemeClr val="tx2"/>
                </a:solidFill>
                <a:effectLst/>
                <a:latin typeface="Times New Roman" panose="02020603050405020304" pitchFamily="18" charset="0"/>
                <a:cs typeface="Times New Roman" panose="02020603050405020304" pitchFamily="18" charset="0"/>
              </a:rPr>
              <a:t>Developers work with stakeholders to create product backlog.</a:t>
            </a:r>
            <a:endParaRPr lang="en-US" sz="1800" noProof="0" dirty="0">
              <a:effectLst/>
              <a:latin typeface="Times New Roman" panose="02020603050405020304" pitchFamily="18" charset="0"/>
              <a:cs typeface="Times New Roman" panose="02020603050405020304" pitchFamily="18" charset="0"/>
            </a:endParaRPr>
          </a:p>
          <a:p>
            <a:pPr marL="291600" indent="-291600" rtl="0" eaLnBrk="1" latinLnBrk="0" hangingPunct="1">
              <a:spcBef>
                <a:spcPts val="1000"/>
              </a:spcBef>
              <a:spcAft>
                <a:spcPts val="0"/>
              </a:spcAft>
              <a:buFont typeface="Arial" panose="020B0604020202020204" pitchFamily="34" charset="0"/>
              <a:buChar char="•"/>
            </a:pPr>
            <a:r>
              <a:rPr lang="en-US" sz="1800" b="1" kern="1200" noProof="0" dirty="0">
                <a:solidFill>
                  <a:schemeClr val="tx2"/>
                </a:solidFill>
                <a:effectLst/>
                <a:latin typeface="Times New Roman" panose="02020603050405020304" pitchFamily="18" charset="0"/>
                <a:cs typeface="Times New Roman" panose="02020603050405020304" pitchFamily="18" charset="0"/>
              </a:rPr>
              <a:t>Sprint Planning Meeting </a:t>
            </a:r>
            <a:r>
              <a:rPr lang="en-US" sz="1800" kern="1200" noProof="0" dirty="0">
                <a:solidFill>
                  <a:schemeClr val="tx2"/>
                </a:solidFill>
                <a:effectLst/>
                <a:latin typeface="Times New Roman" panose="02020603050405020304" pitchFamily="18" charset="0"/>
                <a:cs typeface="Times New Roman" panose="02020603050405020304" pitchFamily="18" charset="0"/>
              </a:rPr>
              <a:t>Backlog partitioned into “sprints” derived from backlog and next sprint defined.</a:t>
            </a:r>
            <a:endParaRPr lang="en-US" sz="1800" noProof="0" dirty="0">
              <a:effectLst/>
              <a:latin typeface="Times New Roman" panose="02020603050405020304" pitchFamily="18" charset="0"/>
              <a:cs typeface="Times New Roman" panose="02020603050405020304" pitchFamily="18" charset="0"/>
            </a:endParaRPr>
          </a:p>
          <a:p>
            <a:pPr marL="291600" indent="-291600" rtl="0" eaLnBrk="1" latinLnBrk="0" hangingPunct="1">
              <a:spcBef>
                <a:spcPts val="1000"/>
              </a:spcBef>
              <a:spcAft>
                <a:spcPts val="0"/>
              </a:spcAft>
              <a:buFont typeface="Arial" panose="020B0604020202020204" pitchFamily="34" charset="0"/>
              <a:buChar char="•"/>
            </a:pPr>
            <a:r>
              <a:rPr lang="en-US" sz="1800" b="1" kern="1200" noProof="0" dirty="0">
                <a:solidFill>
                  <a:schemeClr val="tx2"/>
                </a:solidFill>
                <a:effectLst/>
                <a:latin typeface="Times New Roman" panose="02020603050405020304" pitchFamily="18" charset="0"/>
                <a:cs typeface="Times New Roman" panose="02020603050405020304" pitchFamily="18" charset="0"/>
              </a:rPr>
              <a:t>Daily Scrum Meeting </a:t>
            </a:r>
            <a:r>
              <a:rPr lang="en-US" sz="1800" kern="1200" noProof="0" dirty="0">
                <a:solidFill>
                  <a:schemeClr val="tx2"/>
                </a:solidFill>
                <a:effectLst/>
                <a:latin typeface="Times New Roman" panose="02020603050405020304" pitchFamily="18" charset="0"/>
                <a:cs typeface="Times New Roman" panose="02020603050405020304" pitchFamily="18" charset="0"/>
              </a:rPr>
              <a:t>Team members synchronize their activities and plan work day (15 minutes max).</a:t>
            </a:r>
            <a:endParaRPr lang="en-US" sz="1800" noProof="0" dirty="0">
              <a:effectLst/>
              <a:latin typeface="Times New Roman" panose="02020603050405020304" pitchFamily="18" charset="0"/>
              <a:cs typeface="Times New Roman" panose="02020603050405020304" pitchFamily="18" charset="0"/>
            </a:endParaRPr>
          </a:p>
          <a:p>
            <a:pPr marL="291600" indent="-291600" rtl="0" eaLnBrk="1" latinLnBrk="0" hangingPunct="1">
              <a:spcBef>
                <a:spcPts val="1000"/>
              </a:spcBef>
              <a:spcAft>
                <a:spcPts val="0"/>
              </a:spcAft>
              <a:buFont typeface="Arial" panose="020B0604020202020204" pitchFamily="34" charset="0"/>
              <a:buChar char="•"/>
            </a:pPr>
            <a:r>
              <a:rPr lang="en-US" sz="1800" b="1" kern="1200" noProof="0" dirty="0">
                <a:solidFill>
                  <a:schemeClr val="tx2"/>
                </a:solidFill>
                <a:effectLst/>
                <a:latin typeface="Times New Roman" panose="02020603050405020304" pitchFamily="18" charset="0"/>
                <a:cs typeface="Times New Roman" panose="02020603050405020304" pitchFamily="18" charset="0"/>
              </a:rPr>
              <a:t>Sprint Review </a:t>
            </a:r>
            <a:r>
              <a:rPr lang="en-US" sz="1800" kern="1200" noProof="0" dirty="0">
                <a:solidFill>
                  <a:schemeClr val="tx2"/>
                </a:solidFill>
                <a:effectLst/>
                <a:latin typeface="Times New Roman" panose="02020603050405020304" pitchFamily="18" charset="0"/>
                <a:cs typeface="Times New Roman" panose="02020603050405020304" pitchFamily="18" charset="0"/>
              </a:rPr>
              <a:t>Prototype “demos” are delivered to the stakeholders for approval or rejection.</a:t>
            </a:r>
            <a:endParaRPr lang="en-US" sz="1800" noProof="0" dirty="0">
              <a:effectLst/>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sz="1800" b="1" kern="1200" noProof="0" dirty="0">
                <a:solidFill>
                  <a:schemeClr val="tx2"/>
                </a:solidFill>
                <a:effectLst/>
                <a:latin typeface="Times New Roman" panose="02020603050405020304" pitchFamily="18" charset="0"/>
                <a:cs typeface="Times New Roman" panose="02020603050405020304" pitchFamily="18" charset="0"/>
              </a:rPr>
              <a:t>Sprint Retrospective </a:t>
            </a:r>
            <a:r>
              <a:rPr lang="en-US" sz="1800" kern="1200" noProof="0" dirty="0">
                <a:solidFill>
                  <a:schemeClr val="tx2"/>
                </a:solidFill>
                <a:effectLst/>
                <a:latin typeface="Times New Roman" panose="02020603050405020304" pitchFamily="18" charset="0"/>
                <a:cs typeface="Times New Roman" panose="02020603050405020304" pitchFamily="18" charset="0"/>
              </a:rPr>
              <a:t>After sprint is complete, team considers what went well and what needs improvement.</a:t>
            </a:r>
            <a:endParaRPr lang="en-US" altLang="en-US" sz="1800" noProof="0" dirty="0">
              <a:latin typeface="Times New Roman" panose="02020603050405020304" pitchFamily="18" charset="0"/>
              <a:cs typeface="Times New Roman" panose="02020603050405020304" pitchFamily="18" charset="0"/>
            </a:endParaRPr>
          </a:p>
        </p:txBody>
      </p:sp>
      <p:sp>
        <p:nvSpPr>
          <p:cNvPr id="11" name="Content Placeholder 10"/>
          <p:cNvSpPr>
            <a:spLocks noGrp="1"/>
          </p:cNvSpPr>
          <p:nvPr>
            <p:ph sz="quarter" idx="14"/>
          </p:nvPr>
        </p:nvSpPr>
        <p:spPr>
          <a:xfrm>
            <a:off x="5101330" y="1276708"/>
            <a:ext cx="3589909" cy="1919253"/>
          </a:xfrm>
        </p:spPr>
        <p:txBody>
          <a:bodyPr>
            <a:noAutofit/>
          </a:bodyPr>
          <a:lstStyle/>
          <a:p>
            <a:r>
              <a:rPr lang="en-US" sz="1800" b="1" noProof="0" dirty="0">
                <a:latin typeface="Times New Roman" panose="02020603050405020304" pitchFamily="18" charset="0"/>
                <a:cs typeface="Times New Roman" panose="02020603050405020304" pitchFamily="18" charset="0"/>
              </a:rPr>
              <a:t>Pros </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Product owner sets priorities.</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Team owns decision making.</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Documentation is lightweight.</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Supports frequent updating.</a:t>
            </a:r>
          </a:p>
        </p:txBody>
      </p:sp>
      <p:sp>
        <p:nvSpPr>
          <p:cNvPr id="12" name="Content Placeholder 11"/>
          <p:cNvSpPr>
            <a:spLocks noGrp="1"/>
          </p:cNvSpPr>
          <p:nvPr>
            <p:ph sz="quarter" idx="15"/>
          </p:nvPr>
        </p:nvSpPr>
        <p:spPr>
          <a:xfrm>
            <a:off x="5101330" y="3338003"/>
            <a:ext cx="3589909" cy="2104007"/>
          </a:xfrm>
        </p:spPr>
        <p:txBody>
          <a:bodyPr>
            <a:noAutofit/>
          </a:bodyPr>
          <a:lstStyle/>
          <a:p>
            <a:r>
              <a:rPr lang="en-US" sz="1800" b="1" noProof="0" dirty="0">
                <a:latin typeface="Times New Roman" panose="02020603050405020304" pitchFamily="18" charset="0"/>
                <a:cs typeface="Times New Roman" panose="02020603050405020304" pitchFamily="18" charset="0"/>
              </a:rPr>
              <a:t>Cons</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Difficult to control the cost of changes.</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May not be suitable for large teams.</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Requires expert team members.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8</a:t>
            </a:fld>
            <a:endParaRPr lang="en-US" dirty="0"/>
          </a:p>
        </p:txBody>
      </p:sp>
    </p:spTree>
    <p:extLst>
      <p:ext uri="{BB962C8B-B14F-4D97-AF65-F5344CB8AC3E}">
        <p14:creationId xmlns:p14="http://schemas.microsoft.com/office/powerpoint/2010/main" val="3521258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3600" noProof="0" dirty="0">
                <a:latin typeface="Times New Roman" panose="02020603050405020304" pitchFamily="18" charset="0"/>
                <a:cs typeface="Times New Roman" panose="02020603050405020304" pitchFamily="18" charset="0"/>
              </a:rPr>
              <a:t>Extreme Programming (XP) Framework</a:t>
            </a:r>
          </a:p>
        </p:txBody>
      </p:sp>
      <p:pic>
        <p:nvPicPr>
          <p:cNvPr id="13" name="Picture 12" descr="An illustration displays extreme programming framework cycle. The components in the cycle are planning, design, coding, and testing. ">
            <a:extLst>
              <a:ext uri="{FF2B5EF4-FFF2-40B4-BE49-F238E27FC236}">
                <a16:creationId xmlns:a16="http://schemas.microsoft.com/office/drawing/2014/main" id="{DCDB1688-975B-4022-8883-0B2ADBA379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5272" y="1236360"/>
            <a:ext cx="4693456" cy="4771175"/>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9</a:t>
            </a:fld>
            <a:endParaRPr lang="en-US" dirty="0"/>
          </a:p>
        </p:txBody>
      </p:sp>
    </p:spTree>
    <p:extLst>
      <p:ext uri="{BB962C8B-B14F-4D97-AF65-F5344CB8AC3E}">
        <p14:creationId xmlns:p14="http://schemas.microsoft.com/office/powerpoint/2010/main" val="4045939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XP Details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4199283" cy="5114152"/>
          </a:xfrm>
        </p:spPr>
        <p:txBody>
          <a:bodyPr vert="horz" lIns="91440" tIns="45720" rIns="91440" bIns="45720" rtlCol="0">
            <a:noAutofit/>
          </a:bodyPr>
          <a:lstStyle/>
          <a:p>
            <a:pPr marL="291600" indent="-291600" rtl="0" eaLnBrk="1" latinLnBrk="0" hangingPunct="1">
              <a:spcBef>
                <a:spcPts val="1000"/>
              </a:spcBef>
              <a:spcAft>
                <a:spcPts val="0"/>
              </a:spcAft>
              <a:buFont typeface="Arial" panose="020B0604020202020204" pitchFamily="34" charset="0"/>
              <a:buChar char="•"/>
            </a:pPr>
            <a:r>
              <a:rPr lang="en-US" sz="1800" b="1" kern="1200" noProof="0" dirty="0">
                <a:solidFill>
                  <a:schemeClr val="tx2"/>
                </a:solidFill>
                <a:effectLst/>
                <a:latin typeface="Times New Roman" panose="02020603050405020304" pitchFamily="18" charset="0"/>
                <a:cs typeface="Times New Roman" panose="02020603050405020304" pitchFamily="18" charset="0"/>
              </a:rPr>
              <a:t>XP Planning</a:t>
            </a:r>
            <a:r>
              <a:rPr lang="en-US" sz="1800" kern="1200" noProof="0" dirty="0">
                <a:solidFill>
                  <a:schemeClr val="tx2"/>
                </a:solidFill>
                <a:effectLst/>
                <a:latin typeface="Times New Roman" panose="02020603050405020304" pitchFamily="18" charset="0"/>
                <a:cs typeface="Times New Roman" panose="02020603050405020304" pitchFamily="18" charset="0"/>
              </a:rPr>
              <a:t> – Begins with user stories, team estimates cost, stories grouped into increments, commitment made on delivery date, computer project velocity.</a:t>
            </a:r>
            <a:endParaRPr lang="en-US" sz="1800" noProof="0" dirty="0">
              <a:effectLst/>
              <a:latin typeface="Times New Roman" panose="02020603050405020304" pitchFamily="18" charset="0"/>
              <a:cs typeface="Times New Roman" panose="02020603050405020304" pitchFamily="18" charset="0"/>
            </a:endParaRPr>
          </a:p>
          <a:p>
            <a:pPr marL="291600" indent="-291600" rtl="0" eaLnBrk="1" latinLnBrk="0" hangingPunct="1">
              <a:spcBef>
                <a:spcPts val="1000"/>
              </a:spcBef>
              <a:spcAft>
                <a:spcPts val="0"/>
              </a:spcAft>
              <a:buFont typeface="Arial" panose="020B0604020202020204" pitchFamily="34" charset="0"/>
              <a:buChar char="•"/>
            </a:pPr>
            <a:r>
              <a:rPr lang="en-US" sz="1800" b="1" kern="1200" noProof="0" dirty="0">
                <a:solidFill>
                  <a:schemeClr val="tx2"/>
                </a:solidFill>
                <a:effectLst/>
                <a:latin typeface="Times New Roman" panose="02020603050405020304" pitchFamily="18" charset="0"/>
                <a:cs typeface="Times New Roman" panose="02020603050405020304" pitchFamily="18" charset="0"/>
              </a:rPr>
              <a:t>XP Design</a:t>
            </a:r>
            <a:r>
              <a:rPr lang="en-US" sz="1800" kern="1200" noProof="0" dirty="0">
                <a:solidFill>
                  <a:schemeClr val="tx2"/>
                </a:solidFill>
                <a:effectLst/>
                <a:latin typeface="Times New Roman" panose="02020603050405020304" pitchFamily="18" charset="0"/>
                <a:cs typeface="Times New Roman" panose="02020603050405020304" pitchFamily="18" charset="0"/>
              </a:rPr>
              <a:t> – Follows KIS (Keep </a:t>
            </a:r>
            <a:r>
              <a:rPr lang="en-US" sz="1800" kern="1200" noProof="0">
                <a:solidFill>
                  <a:schemeClr val="tx2"/>
                </a:solidFill>
                <a:effectLst/>
                <a:latin typeface="Times New Roman" panose="02020603050405020304" pitchFamily="18" charset="0"/>
                <a:cs typeface="Times New Roman" panose="02020603050405020304" pitchFamily="18" charset="0"/>
              </a:rPr>
              <a:t>It Simple) </a:t>
            </a:r>
            <a:r>
              <a:rPr lang="en-US" sz="1800" kern="1200" noProof="0" dirty="0">
                <a:solidFill>
                  <a:schemeClr val="tx2"/>
                </a:solidFill>
                <a:effectLst/>
                <a:latin typeface="Times New Roman" panose="02020603050405020304" pitchFamily="18" charset="0"/>
                <a:cs typeface="Times New Roman" panose="02020603050405020304" pitchFamily="18" charset="0"/>
              </a:rPr>
              <a:t>principle, encourages use of CRC </a:t>
            </a:r>
            <a:r>
              <a:rPr lang="en-US" sz="1800" kern="1200" noProof="0">
                <a:solidFill>
                  <a:schemeClr val="tx2"/>
                </a:solidFill>
                <a:effectLst/>
                <a:latin typeface="Times New Roman" panose="02020603050405020304" pitchFamily="18" charset="0"/>
                <a:cs typeface="Times New Roman" panose="02020603050405020304" pitchFamily="18" charset="0"/>
              </a:rPr>
              <a:t>(Class-Responsibility-Collaborator) </a:t>
            </a:r>
            <a:r>
              <a:rPr lang="en-US" sz="1800" kern="1200" noProof="0" dirty="0">
                <a:solidFill>
                  <a:schemeClr val="tx2"/>
                </a:solidFill>
                <a:effectLst/>
                <a:latin typeface="Times New Roman" panose="02020603050405020304" pitchFamily="18" charset="0"/>
                <a:cs typeface="Times New Roman" panose="02020603050405020304" pitchFamily="18" charset="0"/>
              </a:rPr>
              <a:t>cards, design prototypes, and refactoring.</a:t>
            </a:r>
            <a:endParaRPr lang="en-US" sz="1800" noProof="0" dirty="0">
              <a:effectLst/>
              <a:latin typeface="Times New Roman" panose="02020603050405020304" pitchFamily="18" charset="0"/>
              <a:cs typeface="Times New Roman" panose="02020603050405020304" pitchFamily="18" charset="0"/>
            </a:endParaRPr>
          </a:p>
          <a:p>
            <a:pPr marL="291600" indent="-291600" rtl="0" eaLnBrk="1" latinLnBrk="0" hangingPunct="1">
              <a:spcBef>
                <a:spcPts val="1000"/>
              </a:spcBef>
              <a:spcAft>
                <a:spcPts val="0"/>
              </a:spcAft>
              <a:buFont typeface="Arial" panose="020B0604020202020204" pitchFamily="34" charset="0"/>
              <a:buChar char="•"/>
            </a:pPr>
            <a:r>
              <a:rPr lang="en-US" sz="1800" b="1" kern="1200" noProof="0" dirty="0">
                <a:solidFill>
                  <a:schemeClr val="tx2"/>
                </a:solidFill>
                <a:effectLst/>
                <a:latin typeface="Times New Roman" panose="02020603050405020304" pitchFamily="18" charset="0"/>
                <a:cs typeface="Times New Roman" panose="02020603050405020304" pitchFamily="18" charset="0"/>
              </a:rPr>
              <a:t>XP Coding </a:t>
            </a:r>
            <a:r>
              <a:rPr lang="en-US" sz="1800" kern="1200" noProof="0" dirty="0">
                <a:solidFill>
                  <a:schemeClr val="tx2"/>
                </a:solidFill>
                <a:effectLst/>
                <a:latin typeface="Times New Roman" panose="02020603050405020304" pitchFamily="18" charset="0"/>
                <a:cs typeface="Times New Roman" panose="02020603050405020304" pitchFamily="18" charset="0"/>
              </a:rPr>
              <a:t>– construct unit tests before coding, uses pair.</a:t>
            </a:r>
            <a:endParaRPr lang="en-US" sz="1800" noProof="0" dirty="0">
              <a:effectLst/>
              <a:latin typeface="Times New Roman" panose="02020603050405020304" pitchFamily="18" charset="0"/>
              <a:cs typeface="Times New Roman" panose="02020603050405020304" pitchFamily="18" charset="0"/>
            </a:endParaRPr>
          </a:p>
          <a:p>
            <a:pPr marL="291600" indent="-291600" rtl="0" eaLnBrk="1" latinLnBrk="0" hangingPunct="1">
              <a:spcBef>
                <a:spcPts val="1000"/>
              </a:spcBef>
              <a:spcAft>
                <a:spcPts val="0"/>
              </a:spcAft>
              <a:buFont typeface="Arial" panose="020B0604020202020204" pitchFamily="34" charset="0"/>
              <a:buChar char="•"/>
            </a:pPr>
            <a:r>
              <a:rPr lang="en-US" sz="1800" b="1" kern="1200" noProof="0" dirty="0">
                <a:solidFill>
                  <a:schemeClr val="tx2"/>
                </a:solidFill>
                <a:effectLst/>
                <a:latin typeface="Times New Roman" panose="02020603050405020304" pitchFamily="18" charset="0"/>
                <a:cs typeface="Times New Roman" panose="02020603050405020304" pitchFamily="18" charset="0"/>
              </a:rPr>
              <a:t>XP Testing </a:t>
            </a:r>
            <a:r>
              <a:rPr lang="en-US" sz="1800" kern="1200" noProof="0" dirty="0">
                <a:solidFill>
                  <a:schemeClr val="tx2"/>
                </a:solidFill>
                <a:effectLst/>
                <a:latin typeface="Times New Roman" panose="02020603050405020304" pitchFamily="18" charset="0"/>
                <a:cs typeface="Times New Roman" panose="02020603050405020304" pitchFamily="18" charset="0"/>
              </a:rPr>
              <a:t>– unit tests executed daily, acceptance tests define by customer.</a:t>
            </a:r>
            <a:endParaRPr lang="en-US" altLang="en-US" sz="1800" noProof="0" dirty="0">
              <a:latin typeface="Times New Roman" panose="02020603050405020304" pitchFamily="18" charset="0"/>
              <a:cs typeface="Times New Roman" panose="02020603050405020304" pitchFamily="18" charset="0"/>
            </a:endParaRPr>
          </a:p>
        </p:txBody>
      </p:sp>
      <p:sp>
        <p:nvSpPr>
          <p:cNvPr id="11" name="Content Placeholder 10"/>
          <p:cNvSpPr>
            <a:spLocks noGrp="1"/>
          </p:cNvSpPr>
          <p:nvPr>
            <p:ph sz="quarter" idx="14"/>
          </p:nvPr>
        </p:nvSpPr>
        <p:spPr>
          <a:xfrm>
            <a:off x="4854513" y="1276709"/>
            <a:ext cx="3946586" cy="2674506"/>
          </a:xfrm>
        </p:spPr>
        <p:txBody>
          <a:bodyPr>
            <a:noAutofit/>
          </a:bodyPr>
          <a:lstStyle/>
          <a:p>
            <a:r>
              <a:rPr lang="en-US" sz="1800" b="1" noProof="0" dirty="0">
                <a:latin typeface="Times New Roman" panose="02020603050405020304" pitchFamily="18" charset="0"/>
                <a:cs typeface="Times New Roman" panose="02020603050405020304" pitchFamily="18" charset="0"/>
              </a:rPr>
              <a:t>Pros </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Emphasizes customer involvement.</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Establishes rational plans and schedules.</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High developer commitment to the project.</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Reduced likelihood of product rejection.</a:t>
            </a:r>
          </a:p>
        </p:txBody>
      </p:sp>
      <p:sp>
        <p:nvSpPr>
          <p:cNvPr id="12" name="Content Placeholder 11"/>
          <p:cNvSpPr>
            <a:spLocks noGrp="1"/>
          </p:cNvSpPr>
          <p:nvPr>
            <p:ph sz="quarter" idx="15"/>
          </p:nvPr>
        </p:nvSpPr>
        <p:spPr>
          <a:xfrm>
            <a:off x="4854513" y="3984309"/>
            <a:ext cx="3946586" cy="2406552"/>
          </a:xfrm>
        </p:spPr>
        <p:txBody>
          <a:bodyPr>
            <a:noAutofit/>
          </a:bodyPr>
          <a:lstStyle/>
          <a:p>
            <a:r>
              <a:rPr lang="en-US" sz="1800" b="1" noProof="0" dirty="0">
                <a:latin typeface="Times New Roman" panose="02020603050405020304" pitchFamily="18" charset="0"/>
                <a:cs typeface="Times New Roman" panose="02020603050405020304" pitchFamily="18" charset="0"/>
              </a:rPr>
              <a:t>Cons</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Temptation to “ship” a prototype.</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Requires frequent meetings about increasing costs.</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Allows for excessive changes.</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Depends on highly skilled team members.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10</a:t>
            </a:fld>
            <a:endParaRPr lang="en-US" dirty="0"/>
          </a:p>
        </p:txBody>
      </p:sp>
    </p:spTree>
    <p:extLst>
      <p:ext uri="{BB962C8B-B14F-4D97-AF65-F5344CB8AC3E}">
        <p14:creationId xmlns:p14="http://schemas.microsoft.com/office/powerpoint/2010/main" val="2995924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Kanban Framework</a:t>
            </a:r>
          </a:p>
        </p:txBody>
      </p:sp>
      <p:pic>
        <p:nvPicPr>
          <p:cNvPr id="12" name="Picture 11" descr="A Kanban framework consists of 6 verticals which, from left to right, are: backlog, selected, analysis, development, testing, and done. ">
            <a:extLst>
              <a:ext uri="{FF2B5EF4-FFF2-40B4-BE49-F238E27FC236}">
                <a16:creationId xmlns:a16="http://schemas.microsoft.com/office/drawing/2014/main" id="{CDD0B486-1A2A-4738-9001-2614731942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132" y="1400960"/>
            <a:ext cx="7678514" cy="4089636"/>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11</a:t>
            </a:fld>
            <a:endParaRPr lang="en-US" dirty="0"/>
          </a:p>
        </p:txBody>
      </p:sp>
    </p:spTree>
    <p:extLst>
      <p:ext uri="{BB962C8B-B14F-4D97-AF65-F5344CB8AC3E}">
        <p14:creationId xmlns:p14="http://schemas.microsoft.com/office/powerpoint/2010/main" val="4045939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Kanban Details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3990561" cy="5044577"/>
          </a:xfrm>
        </p:spPr>
        <p:txBody>
          <a:bodyPr vert="horz" lIns="91440" tIns="45720" rIns="91440" bIns="45720" rtlCol="0">
            <a:noAutofit/>
          </a:bodyPr>
          <a:lstStyle/>
          <a:p>
            <a:pPr marL="291600" indent="-291600" rtl="0" eaLnBrk="1" latinLnBrk="0" hangingPunct="1">
              <a:buFont typeface="Arial" panose="020B0604020202020204" pitchFamily="34" charset="0"/>
              <a:buChar char="•"/>
            </a:pPr>
            <a:r>
              <a:rPr lang="en-US" sz="1800" kern="1200" noProof="0" dirty="0">
                <a:solidFill>
                  <a:schemeClr val="tx2"/>
                </a:solidFill>
                <a:effectLst/>
                <a:latin typeface="Times New Roman" panose="02020603050405020304" pitchFamily="18" charset="0"/>
                <a:cs typeface="Times New Roman" panose="02020603050405020304" pitchFamily="18" charset="0"/>
              </a:rPr>
              <a:t>Visualizing workflow using a Kanban board.</a:t>
            </a:r>
            <a:endParaRPr lang="en-US" sz="1800" noProof="0" dirty="0">
              <a:effectLst/>
              <a:latin typeface="Times New Roman" panose="02020603050405020304" pitchFamily="18" charset="0"/>
              <a:cs typeface="Times New Roman" panose="02020603050405020304" pitchFamily="18" charset="0"/>
            </a:endParaRPr>
          </a:p>
          <a:p>
            <a:pPr marL="291600" indent="-291600" rtl="0" eaLnBrk="1" latinLnBrk="0" hangingPunct="1">
              <a:buFont typeface="Arial" panose="020B0604020202020204" pitchFamily="34" charset="0"/>
              <a:buChar char="•"/>
            </a:pPr>
            <a:r>
              <a:rPr lang="en-US" sz="1800" kern="1200" noProof="0" dirty="0">
                <a:solidFill>
                  <a:schemeClr val="tx2"/>
                </a:solidFill>
                <a:effectLst/>
                <a:latin typeface="Times New Roman" panose="02020603050405020304" pitchFamily="18" charset="0"/>
                <a:cs typeface="Times New Roman" panose="02020603050405020304" pitchFamily="18" charset="0"/>
              </a:rPr>
              <a:t>Limiting the amount of </a:t>
            </a:r>
            <a:r>
              <a:rPr lang="en-US" sz="1800" i="1" kern="1200" noProof="0" dirty="0">
                <a:solidFill>
                  <a:schemeClr val="tx2"/>
                </a:solidFill>
                <a:effectLst/>
                <a:latin typeface="Times New Roman" panose="02020603050405020304" pitchFamily="18" charset="0"/>
                <a:cs typeface="Times New Roman" panose="02020603050405020304" pitchFamily="18" charset="0"/>
              </a:rPr>
              <a:t>work in progress</a:t>
            </a:r>
            <a:r>
              <a:rPr lang="en-US" sz="1800" kern="1200" noProof="0" dirty="0">
                <a:solidFill>
                  <a:schemeClr val="tx2"/>
                </a:solidFill>
                <a:effectLst/>
                <a:latin typeface="Times New Roman" panose="02020603050405020304" pitchFamily="18" charset="0"/>
                <a:cs typeface="Times New Roman" panose="02020603050405020304" pitchFamily="18" charset="0"/>
              </a:rPr>
              <a:t> at any given time.</a:t>
            </a:r>
            <a:endParaRPr lang="en-US" sz="1800" noProof="0" dirty="0">
              <a:effectLst/>
              <a:latin typeface="Times New Roman" panose="02020603050405020304" pitchFamily="18" charset="0"/>
              <a:cs typeface="Times New Roman" panose="02020603050405020304" pitchFamily="18" charset="0"/>
            </a:endParaRPr>
          </a:p>
          <a:p>
            <a:pPr marL="291600" indent="-291600" rtl="0" eaLnBrk="1" latinLnBrk="0" hangingPunct="1">
              <a:buFont typeface="Arial" panose="020B0604020202020204" pitchFamily="34" charset="0"/>
              <a:buChar char="•"/>
            </a:pPr>
            <a:r>
              <a:rPr lang="en-US" sz="1800" kern="1200" noProof="0" dirty="0">
                <a:solidFill>
                  <a:schemeClr val="tx2"/>
                </a:solidFill>
                <a:effectLst/>
                <a:latin typeface="Times New Roman" panose="02020603050405020304" pitchFamily="18" charset="0"/>
                <a:cs typeface="Times New Roman" panose="02020603050405020304" pitchFamily="18" charset="0"/>
              </a:rPr>
              <a:t>Managing workflow to reduce waste by understanding the current value flow.</a:t>
            </a:r>
            <a:endParaRPr lang="en-US" sz="1800" noProof="0" dirty="0">
              <a:effectLst/>
              <a:latin typeface="Times New Roman" panose="02020603050405020304" pitchFamily="18" charset="0"/>
              <a:cs typeface="Times New Roman" panose="02020603050405020304" pitchFamily="18" charset="0"/>
            </a:endParaRPr>
          </a:p>
          <a:p>
            <a:pPr marL="291600" indent="-291600" rtl="0" eaLnBrk="1" latinLnBrk="0" hangingPunct="1">
              <a:buFont typeface="Arial" panose="020B0604020202020204" pitchFamily="34" charset="0"/>
              <a:buChar char="•"/>
            </a:pPr>
            <a:r>
              <a:rPr lang="en-US" sz="1800" kern="1200" noProof="0" dirty="0">
                <a:solidFill>
                  <a:schemeClr val="tx2"/>
                </a:solidFill>
                <a:effectLst/>
                <a:latin typeface="Times New Roman" panose="02020603050405020304" pitchFamily="18" charset="0"/>
                <a:cs typeface="Times New Roman" panose="02020603050405020304" pitchFamily="18" charset="0"/>
              </a:rPr>
              <a:t>Making process policies explicit and the criteria used to define “done”.</a:t>
            </a:r>
            <a:endParaRPr lang="en-US" sz="1800" noProof="0" dirty="0">
              <a:effectLst/>
              <a:latin typeface="Times New Roman" panose="02020603050405020304" pitchFamily="18" charset="0"/>
              <a:cs typeface="Times New Roman" panose="02020603050405020304" pitchFamily="18" charset="0"/>
            </a:endParaRPr>
          </a:p>
          <a:p>
            <a:pPr marL="291600" indent="-291600" rtl="0" eaLnBrk="1" latinLnBrk="0" hangingPunct="1">
              <a:buFont typeface="Arial" panose="020B0604020202020204" pitchFamily="34" charset="0"/>
              <a:buChar char="•"/>
            </a:pPr>
            <a:r>
              <a:rPr lang="en-US" sz="1800" kern="1200" noProof="0" dirty="0">
                <a:solidFill>
                  <a:schemeClr val="tx2"/>
                </a:solidFill>
                <a:effectLst/>
                <a:latin typeface="Times New Roman" panose="02020603050405020304" pitchFamily="18" charset="0"/>
                <a:cs typeface="Times New Roman" panose="02020603050405020304" pitchFamily="18" charset="0"/>
              </a:rPr>
              <a:t>Focusing on continuous improvement by creating feedback loops where changes are introduced.</a:t>
            </a:r>
            <a:endParaRPr lang="en-US" sz="1800" noProof="0" dirty="0">
              <a:effectLst/>
              <a:latin typeface="Times New Roman" panose="02020603050405020304" pitchFamily="18" charset="0"/>
              <a:cs typeface="Times New Roman" panose="02020603050405020304" pitchFamily="18" charset="0"/>
            </a:endParaRPr>
          </a:p>
          <a:p>
            <a:pPr marL="291600" indent="-291600" rtl="0" eaLnBrk="1" latinLnBrk="0" hangingPunct="1">
              <a:buFont typeface="Arial" panose="020B0604020202020204" pitchFamily="34" charset="0"/>
              <a:buChar char="•"/>
            </a:pPr>
            <a:r>
              <a:rPr lang="en-US" sz="1800" kern="1200" noProof="0" dirty="0">
                <a:solidFill>
                  <a:schemeClr val="tx2"/>
                </a:solidFill>
                <a:effectLst/>
                <a:latin typeface="Times New Roman" panose="02020603050405020304" pitchFamily="18" charset="0"/>
                <a:cs typeface="Times New Roman" panose="02020603050405020304" pitchFamily="18" charset="0"/>
              </a:rPr>
              <a:t>Make process changes collaboratively and involve all stakeholders as needed.</a:t>
            </a:r>
            <a:endParaRPr lang="en-US" altLang="en-US" sz="1800" noProof="0" dirty="0">
              <a:latin typeface="Times New Roman" panose="02020603050405020304" pitchFamily="18" charset="0"/>
              <a:cs typeface="Times New Roman" panose="02020603050405020304" pitchFamily="18" charset="0"/>
            </a:endParaRPr>
          </a:p>
        </p:txBody>
      </p:sp>
      <p:sp>
        <p:nvSpPr>
          <p:cNvPr id="11" name="Content Placeholder 10"/>
          <p:cNvSpPr>
            <a:spLocks noGrp="1"/>
          </p:cNvSpPr>
          <p:nvPr>
            <p:ph sz="quarter" idx="14"/>
          </p:nvPr>
        </p:nvSpPr>
        <p:spPr>
          <a:xfrm>
            <a:off x="4631635" y="1276710"/>
            <a:ext cx="4169465" cy="1913752"/>
          </a:xfrm>
        </p:spPr>
        <p:txBody>
          <a:bodyPr>
            <a:normAutofit/>
          </a:bodyPr>
          <a:lstStyle/>
          <a:p>
            <a:r>
              <a:rPr lang="en-US" sz="1800" b="1" noProof="0" dirty="0">
                <a:latin typeface="Times New Roman" panose="02020603050405020304" pitchFamily="18" charset="0"/>
                <a:cs typeface="Times New Roman" panose="02020603050405020304" pitchFamily="18" charset="0"/>
              </a:rPr>
              <a:t>Pros</a:t>
            </a:r>
          </a:p>
          <a:p>
            <a:pPr marL="291600" indent="-291600">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Lower budget and time requirements.</a:t>
            </a:r>
          </a:p>
          <a:p>
            <a:pPr marL="291600" indent="-291600">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Allows early product delivery.</a:t>
            </a:r>
          </a:p>
          <a:p>
            <a:pPr marL="291600" indent="-291600">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Process policies written down.</a:t>
            </a:r>
          </a:p>
          <a:p>
            <a:pPr marL="291600" indent="-291600">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Continuous process improvement.</a:t>
            </a:r>
          </a:p>
        </p:txBody>
      </p:sp>
      <p:sp>
        <p:nvSpPr>
          <p:cNvPr id="12" name="Content Placeholder 11"/>
          <p:cNvSpPr>
            <a:spLocks noGrp="1"/>
          </p:cNvSpPr>
          <p:nvPr>
            <p:ph sz="quarter" idx="15"/>
          </p:nvPr>
        </p:nvSpPr>
        <p:spPr>
          <a:xfrm>
            <a:off x="4631635" y="3268694"/>
            <a:ext cx="4169465" cy="2973082"/>
          </a:xfrm>
        </p:spPr>
        <p:txBody>
          <a:bodyPr>
            <a:noAutofit/>
          </a:bodyPr>
          <a:lstStyle/>
          <a:p>
            <a:r>
              <a:rPr lang="en-US" sz="1800" b="1" noProof="0" dirty="0">
                <a:latin typeface="Times New Roman" panose="02020603050405020304" pitchFamily="18" charset="0"/>
                <a:cs typeface="Times New Roman" panose="02020603050405020304" pitchFamily="18" charset="0"/>
              </a:rPr>
              <a:t>Cons</a:t>
            </a:r>
          </a:p>
          <a:p>
            <a:pPr marL="291600" indent="-291600">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Team collaboration skills determine success.</a:t>
            </a:r>
          </a:p>
          <a:p>
            <a:pPr marL="291600" indent="-291600">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Poor business analysis can doom the project.</a:t>
            </a:r>
          </a:p>
          <a:p>
            <a:pPr marL="291600" indent="-291600">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Flexibility can cause developers to lose focus.</a:t>
            </a:r>
          </a:p>
          <a:p>
            <a:pPr marL="291600" indent="-291600">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Developer reluctance to use measurement.</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12</a:t>
            </a:fld>
            <a:endParaRPr lang="en-US" dirty="0"/>
          </a:p>
        </p:txBody>
      </p:sp>
    </p:spTree>
    <p:extLst>
      <p:ext uri="{BB962C8B-B14F-4D97-AF65-F5344CB8AC3E}">
        <p14:creationId xmlns:p14="http://schemas.microsoft.com/office/powerpoint/2010/main" val="4151169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19632"/>
            <a:ext cx="8458200" cy="678611"/>
          </a:xfrm>
        </p:spPr>
        <p:txBody>
          <a:bodyPr>
            <a:normAutofit/>
          </a:bodyPr>
          <a:lstStyle/>
          <a:p>
            <a:r>
              <a:rPr lang="en-US" sz="4000" noProof="0" dirty="0">
                <a:latin typeface="Times New Roman" panose="02020603050405020304" pitchFamily="18" charset="0"/>
                <a:cs typeface="Times New Roman" panose="02020603050405020304" pitchFamily="18" charset="0"/>
              </a:rPr>
              <a:t>DevOps</a:t>
            </a:r>
          </a:p>
        </p:txBody>
      </p:sp>
      <p:pic>
        <p:nvPicPr>
          <p:cNvPr id="10" name="Picture 9" descr="A flowchart displays Dev Ops.">
            <a:extLst>
              <a:ext uri="{FF2B5EF4-FFF2-40B4-BE49-F238E27FC236}">
                <a16:creationId xmlns:a16="http://schemas.microsoft.com/office/drawing/2014/main" id="{E0F4048F-DAD0-4E52-9C80-D5ACB1D18E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4738" y="1395174"/>
            <a:ext cx="7238414" cy="4117987"/>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13</a:t>
            </a:fld>
            <a:endParaRPr lang="en-US" dirty="0"/>
          </a:p>
        </p:txBody>
      </p:sp>
    </p:spTree>
    <p:extLst>
      <p:ext uri="{BB962C8B-B14F-4D97-AF65-F5344CB8AC3E}">
        <p14:creationId xmlns:p14="http://schemas.microsoft.com/office/powerpoint/2010/main" val="4045939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14325"/>
            <a:ext cx="8458200" cy="678611"/>
          </a:xfrm>
        </p:spPr>
        <p:txBody>
          <a:bodyPr>
            <a:normAutofit/>
          </a:bodyPr>
          <a:lstStyle/>
          <a:p>
            <a:r>
              <a:rPr lang="en-US" sz="4000" noProof="0" dirty="0">
                <a:latin typeface="Times New Roman" panose="02020603050405020304" pitchFamily="18" charset="0"/>
                <a:cs typeface="Times New Roman" panose="02020603050405020304" pitchFamily="18" charset="0"/>
              </a:rPr>
              <a:t>DevOps Details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3851413" cy="5153908"/>
          </a:xfrm>
        </p:spPr>
        <p:txBody>
          <a:bodyPr vert="horz" lIns="91440" tIns="45720" rIns="91440" bIns="45720" rtlCol="0">
            <a:noAutofit/>
          </a:bodyPr>
          <a:lstStyle/>
          <a:p>
            <a:pPr marL="291600" indent="-291600" rtl="0" eaLnBrk="1" latinLnBrk="0" hangingPunct="1">
              <a:spcBef>
                <a:spcPts val="1000"/>
              </a:spcBef>
              <a:spcAft>
                <a:spcPts val="0"/>
              </a:spcAft>
              <a:buFont typeface="Arial" panose="020B0604020202020204" pitchFamily="34" charset="0"/>
              <a:buChar char="•"/>
            </a:pPr>
            <a:r>
              <a:rPr lang="en-US" sz="1800" b="1" kern="1200" noProof="0" dirty="0">
                <a:solidFill>
                  <a:schemeClr val="tx2"/>
                </a:solidFill>
                <a:effectLst/>
                <a:latin typeface="Times New Roman" panose="02020603050405020304" pitchFamily="18" charset="0"/>
                <a:cs typeface="Times New Roman" panose="02020603050405020304" pitchFamily="18" charset="0"/>
              </a:rPr>
              <a:t>Continuous development. </a:t>
            </a:r>
            <a:r>
              <a:rPr lang="en-US" sz="1800" kern="1200" noProof="0" dirty="0">
                <a:solidFill>
                  <a:schemeClr val="tx2"/>
                </a:solidFill>
                <a:effectLst/>
                <a:latin typeface="Times New Roman" panose="02020603050405020304" pitchFamily="18" charset="0"/>
                <a:cs typeface="Times New Roman" panose="02020603050405020304" pitchFamily="18" charset="0"/>
              </a:rPr>
              <a:t>Software delivered in multiple sprints.</a:t>
            </a:r>
            <a:endParaRPr lang="en-US" sz="1800" noProof="0" dirty="0">
              <a:effectLst/>
              <a:latin typeface="Times New Roman" panose="02020603050405020304" pitchFamily="18" charset="0"/>
              <a:cs typeface="Times New Roman" panose="02020603050405020304" pitchFamily="18" charset="0"/>
            </a:endParaRPr>
          </a:p>
          <a:p>
            <a:pPr marL="291600" indent="-291600" rtl="0" eaLnBrk="1" latinLnBrk="0" hangingPunct="1">
              <a:spcBef>
                <a:spcPts val="1000"/>
              </a:spcBef>
              <a:spcAft>
                <a:spcPts val="0"/>
              </a:spcAft>
              <a:buFont typeface="Arial" panose="020B0604020202020204" pitchFamily="34" charset="0"/>
              <a:buChar char="•"/>
            </a:pPr>
            <a:r>
              <a:rPr lang="en-US" sz="1800" b="1" kern="1200" noProof="0" dirty="0">
                <a:solidFill>
                  <a:schemeClr val="tx2"/>
                </a:solidFill>
                <a:effectLst/>
                <a:latin typeface="Times New Roman" panose="02020603050405020304" pitchFamily="18" charset="0"/>
                <a:cs typeface="Times New Roman" panose="02020603050405020304" pitchFamily="18" charset="0"/>
              </a:rPr>
              <a:t>Continuous testing. </a:t>
            </a:r>
            <a:r>
              <a:rPr lang="en-US" sz="1800" kern="1200" noProof="0" dirty="0">
                <a:solidFill>
                  <a:schemeClr val="tx2"/>
                </a:solidFill>
                <a:effectLst/>
                <a:latin typeface="Times New Roman" panose="02020603050405020304" pitchFamily="18" charset="0"/>
                <a:cs typeface="Times New Roman" panose="02020603050405020304" pitchFamily="18" charset="0"/>
              </a:rPr>
              <a:t>Automated testing tools used prior to integration.</a:t>
            </a:r>
            <a:endParaRPr lang="en-US" sz="1800" noProof="0" dirty="0">
              <a:effectLst/>
              <a:latin typeface="Times New Roman" panose="02020603050405020304" pitchFamily="18" charset="0"/>
              <a:cs typeface="Times New Roman" panose="02020603050405020304" pitchFamily="18" charset="0"/>
            </a:endParaRPr>
          </a:p>
          <a:p>
            <a:pPr marL="291600" indent="-291600" rtl="0" eaLnBrk="1" latinLnBrk="0" hangingPunct="1">
              <a:spcBef>
                <a:spcPts val="1000"/>
              </a:spcBef>
              <a:spcAft>
                <a:spcPts val="0"/>
              </a:spcAft>
              <a:buFont typeface="Arial" panose="020B0604020202020204" pitchFamily="34" charset="0"/>
              <a:buChar char="•"/>
            </a:pPr>
            <a:r>
              <a:rPr lang="en-US" sz="1800" b="1" kern="1200" noProof="0" dirty="0">
                <a:solidFill>
                  <a:schemeClr val="tx2"/>
                </a:solidFill>
                <a:effectLst/>
                <a:latin typeface="Times New Roman" panose="02020603050405020304" pitchFamily="18" charset="0"/>
                <a:cs typeface="Times New Roman" panose="02020603050405020304" pitchFamily="18" charset="0"/>
              </a:rPr>
              <a:t>Continuous integration. </a:t>
            </a:r>
            <a:r>
              <a:rPr lang="en-US" sz="1800" kern="1200" noProof="0" dirty="0">
                <a:solidFill>
                  <a:schemeClr val="tx2"/>
                </a:solidFill>
                <a:effectLst/>
                <a:latin typeface="Times New Roman" panose="02020603050405020304" pitchFamily="18" charset="0"/>
                <a:cs typeface="Times New Roman" panose="02020603050405020304" pitchFamily="18" charset="0"/>
              </a:rPr>
              <a:t>Code pieces with new functionality added to existing code running code.</a:t>
            </a:r>
            <a:endParaRPr lang="en-US" sz="1800" noProof="0" dirty="0">
              <a:effectLst/>
              <a:latin typeface="Times New Roman" panose="02020603050405020304" pitchFamily="18" charset="0"/>
              <a:cs typeface="Times New Roman" panose="02020603050405020304" pitchFamily="18" charset="0"/>
            </a:endParaRPr>
          </a:p>
          <a:p>
            <a:pPr marL="291600" indent="-291600" rtl="0" eaLnBrk="1" latinLnBrk="0" hangingPunct="1">
              <a:spcBef>
                <a:spcPts val="1000"/>
              </a:spcBef>
              <a:spcAft>
                <a:spcPts val="0"/>
              </a:spcAft>
              <a:buFont typeface="Arial" panose="020B0604020202020204" pitchFamily="34" charset="0"/>
              <a:buChar char="•"/>
            </a:pPr>
            <a:r>
              <a:rPr lang="en-US" sz="1800" b="1" kern="1200" noProof="0" dirty="0">
                <a:solidFill>
                  <a:schemeClr val="tx2"/>
                </a:solidFill>
                <a:effectLst/>
                <a:latin typeface="Times New Roman" panose="02020603050405020304" pitchFamily="18" charset="0"/>
                <a:cs typeface="Times New Roman" panose="02020603050405020304" pitchFamily="18" charset="0"/>
              </a:rPr>
              <a:t>Continuous deployment. </a:t>
            </a:r>
            <a:r>
              <a:rPr lang="en-US" sz="1800" kern="1200" noProof="0" dirty="0">
                <a:solidFill>
                  <a:schemeClr val="tx2"/>
                </a:solidFill>
                <a:effectLst/>
                <a:latin typeface="Times New Roman" panose="02020603050405020304" pitchFamily="18" charset="0"/>
                <a:cs typeface="Times New Roman" panose="02020603050405020304" pitchFamily="18" charset="0"/>
              </a:rPr>
              <a:t>Integrated code is deployed to the production environment.</a:t>
            </a:r>
            <a:endParaRPr lang="en-US" sz="1800" noProof="0" dirty="0">
              <a:effectLst/>
              <a:latin typeface="Times New Roman" panose="02020603050405020304" pitchFamily="18" charset="0"/>
              <a:cs typeface="Times New Roman" panose="02020603050405020304" pitchFamily="18" charset="0"/>
            </a:endParaRPr>
          </a:p>
          <a:p>
            <a:pPr marL="291600" indent="-291600" rtl="0" eaLnBrk="1" latinLnBrk="0" hangingPunct="1">
              <a:spcBef>
                <a:spcPts val="1000"/>
              </a:spcBef>
              <a:spcAft>
                <a:spcPts val="0"/>
              </a:spcAft>
              <a:buFont typeface="Arial" panose="020B0604020202020204" pitchFamily="34" charset="0"/>
              <a:buChar char="•"/>
            </a:pPr>
            <a:r>
              <a:rPr lang="en-US" sz="1800" b="1" kern="1200" noProof="0" dirty="0">
                <a:solidFill>
                  <a:schemeClr val="tx2"/>
                </a:solidFill>
                <a:effectLst/>
                <a:latin typeface="Times New Roman" panose="02020603050405020304" pitchFamily="18" charset="0"/>
                <a:cs typeface="Times New Roman" panose="02020603050405020304" pitchFamily="18" charset="0"/>
              </a:rPr>
              <a:t>Continuous monitoring. </a:t>
            </a:r>
            <a:r>
              <a:rPr lang="en-US" sz="1800" kern="1200" noProof="0" dirty="0">
                <a:solidFill>
                  <a:schemeClr val="tx2"/>
                </a:solidFill>
                <a:effectLst/>
                <a:latin typeface="Times New Roman" panose="02020603050405020304" pitchFamily="18" charset="0"/>
                <a:cs typeface="Times New Roman" panose="02020603050405020304" pitchFamily="18" charset="0"/>
              </a:rPr>
              <a:t>Team operations staff members proactively monitor software performance in the production environment. </a:t>
            </a:r>
            <a:endParaRPr lang="en-US" sz="1800" noProof="0" dirty="0">
              <a:effectLst/>
              <a:latin typeface="Times New Roman" panose="02020603050405020304" pitchFamily="18" charset="0"/>
              <a:cs typeface="Times New Roman" panose="02020603050405020304" pitchFamily="18" charset="0"/>
            </a:endParaRPr>
          </a:p>
        </p:txBody>
      </p:sp>
      <p:sp>
        <p:nvSpPr>
          <p:cNvPr id="11" name="Content Placeholder 10"/>
          <p:cNvSpPr>
            <a:spLocks noGrp="1"/>
          </p:cNvSpPr>
          <p:nvPr>
            <p:ph sz="quarter" idx="14"/>
          </p:nvPr>
        </p:nvSpPr>
        <p:spPr>
          <a:xfrm>
            <a:off x="4581940" y="1276709"/>
            <a:ext cx="4219160" cy="2396392"/>
          </a:xfrm>
        </p:spPr>
        <p:txBody>
          <a:bodyPr>
            <a:noAutofit/>
          </a:bodyPr>
          <a:lstStyle/>
          <a:p>
            <a:r>
              <a:rPr lang="en-US" sz="1800" b="1" noProof="0" dirty="0">
                <a:latin typeface="Times New Roman" panose="02020603050405020304" pitchFamily="18" charset="0"/>
                <a:cs typeface="Times New Roman" panose="02020603050405020304" pitchFamily="18" charset="0"/>
              </a:rPr>
              <a:t>Pros </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Reduced time to code deployment.</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Team has developers and operations staff.</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Team has end-to-end project ownership.</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Proactive monitoring of deployed product.</a:t>
            </a:r>
          </a:p>
        </p:txBody>
      </p:sp>
      <p:sp>
        <p:nvSpPr>
          <p:cNvPr id="12" name="Content Placeholder 11"/>
          <p:cNvSpPr>
            <a:spLocks noGrp="1"/>
          </p:cNvSpPr>
          <p:nvPr>
            <p:ph sz="quarter" idx="15"/>
          </p:nvPr>
        </p:nvSpPr>
        <p:spPr>
          <a:xfrm>
            <a:off x="4581940" y="3744224"/>
            <a:ext cx="4219159" cy="2673626"/>
          </a:xfrm>
        </p:spPr>
        <p:txBody>
          <a:bodyPr>
            <a:noAutofit/>
          </a:bodyPr>
          <a:lstStyle/>
          <a:p>
            <a:r>
              <a:rPr lang="en-US" sz="1800" b="1" noProof="0" dirty="0">
                <a:latin typeface="Times New Roman" panose="02020603050405020304" pitchFamily="18" charset="0"/>
                <a:cs typeface="Times New Roman" panose="02020603050405020304" pitchFamily="18" charset="0"/>
              </a:rPr>
              <a:t>Cons </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Pressure to work on both old and new code.</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Heavy reliance on automated tools to be effective.</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Deployment may affect the production environment.</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Requires an expert development team.</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14</a:t>
            </a:fld>
            <a:endParaRPr lang="en-US" dirty="0"/>
          </a:p>
        </p:txBody>
      </p:sp>
    </p:spTree>
    <p:extLst>
      <p:ext uri="{BB962C8B-B14F-4D97-AF65-F5344CB8AC3E}">
        <p14:creationId xmlns:p14="http://schemas.microsoft.com/office/powerpoint/2010/main" val="4122488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altLang="zh-CN" sz="3600" noProof="0" dirty="0">
                <a:latin typeface="Times New Roman" panose="02020603050405020304" pitchFamily="18" charset="0"/>
                <a:cs typeface="Times New Roman" panose="02020603050405020304" pitchFamily="18" charset="0"/>
              </a:rPr>
              <a:t>Homework</a:t>
            </a:r>
            <a:endParaRPr lang="en-US" sz="360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2900" y="1276709"/>
            <a:ext cx="8458200" cy="4183313"/>
          </a:xfrm>
        </p:spPr>
        <p:txBody>
          <a:bodyPr>
            <a:normAutofit/>
          </a:bodyPr>
          <a:lstStyle/>
          <a:p>
            <a:pPr marL="514350" indent="-514350">
              <a:buAutoNum type="arabicPeriod"/>
            </a:pPr>
            <a:r>
              <a:rPr lang="en-US" altLang="zh-CN" sz="2600" noProof="0" dirty="0"/>
              <a:t>Form teams of 4 students each team and name your teams</a:t>
            </a:r>
          </a:p>
          <a:p>
            <a:pPr marL="514350" indent="-514350">
              <a:buAutoNum type="arabicPeriod"/>
            </a:pPr>
            <a:r>
              <a:rPr lang="en-US" altLang="en-US" sz="2600" dirty="0"/>
              <a:t>Select a real problem your team wants to resolve </a:t>
            </a:r>
            <a:r>
              <a:rPr lang="en-US" altLang="en-US" sz="2600"/>
              <a:t>with software</a:t>
            </a:r>
            <a:endParaRPr lang="en-US" altLang="en-US" sz="2600" dirty="0"/>
          </a:p>
          <a:p>
            <a:pPr marL="514350" indent="-514350">
              <a:buAutoNum type="arabicPeriod"/>
            </a:pPr>
            <a:r>
              <a:rPr lang="en-US" altLang="en-US" sz="2600" noProof="0" dirty="0"/>
              <a:t>Start discussing the problem within your team</a:t>
            </a:r>
          </a:p>
          <a:p>
            <a:pPr marL="514350" indent="-514350">
              <a:buAutoNum type="arabicPeriod"/>
            </a:pPr>
            <a:r>
              <a:rPr lang="en-US" altLang="en-US" sz="2600" dirty="0"/>
              <a:t>Provide the name of your team, team members and the selected problem to Teaching Assistants</a:t>
            </a:r>
          </a:p>
          <a:p>
            <a:pPr marL="514350" indent="-514350">
              <a:buAutoNum type="arabicPeriod"/>
            </a:pPr>
            <a:r>
              <a:rPr lang="en-US" altLang="zh-CN" sz="2600" dirty="0"/>
              <a:t>Complete step 1 – 4 and submit your form to TA by 9/13 Wednesday</a:t>
            </a:r>
            <a:endParaRPr lang="en-US" altLang="en-US" sz="26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15</a:t>
            </a:fld>
            <a:endParaRPr lang="en-US" dirty="0"/>
          </a:p>
        </p:txBody>
      </p:sp>
    </p:spTree>
    <p:extLst>
      <p:ext uri="{BB962C8B-B14F-4D97-AF65-F5344CB8AC3E}">
        <p14:creationId xmlns:p14="http://schemas.microsoft.com/office/powerpoint/2010/main" val="3885979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3" name="Footer Placeholder 2">
            <a:extLst>
              <a:ext uri="{FF2B5EF4-FFF2-40B4-BE49-F238E27FC236}">
                <a16:creationId xmlns:a16="http://schemas.microsoft.com/office/drawing/2014/main" id="{D630F02A-B1AC-4A6F-B7C6-6A288F03C29B}"/>
              </a:ext>
            </a:extLst>
          </p:cNvPr>
          <p:cNvSpPr>
            <a:spLocks noGrp="1"/>
          </p:cNvSpPr>
          <p:nvPr>
            <p:ph type="ftr" sz="quarter" idx="10"/>
          </p:nvPr>
        </p:nvSpPr>
        <p:spPr/>
        <p:txBody>
          <a:bodyPr/>
          <a:lstStyle/>
          <a:p>
            <a:pPr lvl="0"/>
            <a:r>
              <a:rPr lang="en-US" dirty="0">
                <a:latin typeface="Times New Roman" panose="02020603050405020304" pitchFamily="18" charset="0"/>
                <a:ea typeface="Tahoma" panose="020B0604030504040204" pitchFamily="34" charset="0"/>
                <a:cs typeface="Times New Roman" panose="02020603050405020304" pitchFamily="18" charset="0"/>
              </a:rPr>
              <a:t>© 2020 McGraw-Hill Education. All rights reserved. Authorized only for instructor use in the classroom.</a:t>
            </a:r>
          </a:p>
          <a:p>
            <a:pPr lvl="0"/>
            <a:r>
              <a:rPr lang="en-US" dirty="0">
                <a:latin typeface="Times New Roman" panose="02020603050405020304" pitchFamily="18" charset="0"/>
                <a:ea typeface="Tahoma" panose="020B0604030504040204" pitchFamily="34" charset="0"/>
                <a:cs typeface="Times New Roman" panose="02020603050405020304" pitchFamily="18" charset="0"/>
              </a:rPr>
              <a:t>No reproduction or further distribution permitted without the prior written consent of McGraw-Hill Education.</a:t>
            </a:r>
          </a:p>
        </p:txBody>
      </p:sp>
    </p:spTree>
    <p:extLst>
      <p:ext uri="{BB962C8B-B14F-4D97-AF65-F5344CB8AC3E}">
        <p14:creationId xmlns:p14="http://schemas.microsoft.com/office/powerpoint/2010/main" val="1080484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p:txBody>
          <a:bodyPr/>
          <a:lstStyle/>
          <a:p>
            <a:r>
              <a:rPr lang="en-US" noProof="0" dirty="0">
                <a:latin typeface="Times New Roman" panose="02020603050405020304" pitchFamily="18" charset="0"/>
                <a:cs typeface="Times New Roman" panose="02020603050405020304" pitchFamily="18" charset="0"/>
              </a:rPr>
              <a:t>Accessibility Content: Text Alternatives for Images</a:t>
            </a:r>
          </a:p>
        </p:txBody>
      </p:sp>
      <p:sp>
        <p:nvSpPr>
          <p:cNvPr id="3" name="Slide Number Placeholder 2">
            <a:extLst>
              <a:ext uri="{FF2B5EF4-FFF2-40B4-BE49-F238E27FC236}">
                <a16:creationId xmlns:a16="http://schemas.microsoft.com/office/drawing/2014/main" id="{9665C4E0-2E36-443B-B4C4-06FC04FDC35C}"/>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17</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5016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363688"/>
            <a:ext cx="8458200" cy="560835"/>
          </a:xfrm>
        </p:spPr>
        <p:txBody>
          <a:bodyPr>
            <a:noAutofit/>
          </a:bodyPr>
          <a:lstStyle/>
          <a:p>
            <a:r>
              <a:rPr lang="en-US" sz="3200" noProof="0" dirty="0">
                <a:latin typeface="Times New Roman" panose="02020603050405020304" pitchFamily="18" charset="0"/>
                <a:cs typeface="Times New Roman" panose="02020603050405020304" pitchFamily="18" charset="0"/>
              </a:rPr>
              <a:t>Agility and Cost of Change – Text Alternative</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4"/>
          </p:nvPr>
        </p:nvSpPr>
        <p:spPr>
          <a:xfrm>
            <a:off x="3081587" y="1112624"/>
            <a:ext cx="2980826" cy="225425"/>
          </a:xfrm>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latin typeface="Times New Roman" panose="02020603050405020304" pitchFamily="18" charset="0"/>
                <a:cs typeface="Times New Roman" panose="02020603050405020304" pitchFamily="18" charset="0"/>
              </a:rPr>
              <a:t>An illustration displays agility and cost of change graph. The graph plots development schedule progress on the x axis, and development cost on the y axis. It displays three graphs representing, the cost of change using agile process, cost of change using conventional software process, and idealized cost of change using agile process. The cost of change using agile process graph shows a slow and steady increase. The graph of idealized cost of change using agile process displays a slow beginning and a constant rate after that. The graph of cost of change using conventional software process shows a slow beginning and then displays a peak towards the end.</a:t>
            </a:r>
          </a:p>
        </p:txBody>
      </p:sp>
      <p:sp>
        <p:nvSpPr>
          <p:cNvPr id="3" name="Text Placeholder 2"/>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t>18</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2529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Scrum Framework </a:t>
            </a:r>
            <a:r>
              <a:rPr lang="en-US" sz="4000" dirty="0">
                <a:latin typeface="Times New Roman" panose="02020603050405020304" pitchFamily="18" charset="0"/>
                <a:cs typeface="Times New Roman" panose="02020603050405020304" pitchFamily="18" charset="0"/>
              </a:rPr>
              <a:t>– </a:t>
            </a:r>
            <a:r>
              <a:rPr lang="en-US" sz="4000" noProof="0" dirty="0">
                <a:latin typeface="Times New Roman" panose="02020603050405020304" pitchFamily="18" charset="0"/>
                <a:cs typeface="Times New Roman" panose="02020603050405020304" pitchFamily="18" charset="0"/>
              </a:rPr>
              <a:t>Text Alternative</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4"/>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latin typeface="Times New Roman" panose="02020603050405020304" pitchFamily="18" charset="0"/>
                <a:cs typeface="Times New Roman" panose="02020603050405020304" pitchFamily="18" charset="0"/>
              </a:rPr>
              <a:t>An illustration displays scrum framework. The products backlog contains prioritized product features desired by the customer. The sprint backlog contains the features assigned to sprint. The backlog items are expanded by team over 30 days. Every 24 hours scrum constitutes of a 15 minute daily meeting. Finally new functionality is demonstrated at end of sprint.</a:t>
            </a:r>
          </a:p>
        </p:txBody>
      </p:sp>
      <p:sp>
        <p:nvSpPr>
          <p:cNvPr id="3" name="Text Placeholder 2"/>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t>19</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7689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192490"/>
            <a:ext cx="8458200" cy="903231"/>
          </a:xfrm>
        </p:spPr>
        <p:txBody>
          <a:bodyPr>
            <a:noAutofit/>
          </a:bodyPr>
          <a:lstStyle/>
          <a:p>
            <a:r>
              <a:rPr lang="en-US" sz="3200" noProof="0" dirty="0">
                <a:latin typeface="Times New Roman" panose="02020603050405020304" pitchFamily="18" charset="0"/>
                <a:cs typeface="Times New Roman" panose="02020603050405020304" pitchFamily="18" charset="0"/>
              </a:rPr>
              <a:t>Extreme Programming (XP) Framework </a:t>
            </a:r>
            <a:r>
              <a:rPr lang="en-US" sz="3200" dirty="0">
                <a:latin typeface="Times New Roman" panose="02020603050405020304" pitchFamily="18" charset="0"/>
                <a:cs typeface="Times New Roman" panose="02020603050405020304" pitchFamily="18" charset="0"/>
              </a:rPr>
              <a:t>– </a:t>
            </a:r>
            <a:r>
              <a:rPr lang="en-US" sz="3200" noProof="0" dirty="0">
                <a:latin typeface="Times New Roman" panose="02020603050405020304" pitchFamily="18" charset="0"/>
                <a:cs typeface="Times New Roman" panose="02020603050405020304" pitchFamily="18" charset="0"/>
              </a:rPr>
              <a:t>Text Alternative</a:t>
            </a:r>
            <a:endParaRPr lang="en-US" sz="3200" noProof="0" dirty="0"/>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4"/>
          </p:nvPr>
        </p:nvSpPr>
        <p:spPr>
          <a:xfrm>
            <a:off x="3081587" y="1121502"/>
            <a:ext cx="2980826" cy="225425"/>
          </a:xfrm>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latin typeface="Times New Roman" panose="02020603050405020304" pitchFamily="18" charset="0"/>
                <a:cs typeface="Times New Roman" panose="02020603050405020304" pitchFamily="18" charset="0"/>
              </a:rPr>
              <a:t>An illustration displays extreme programming framework cycle. The components in the cycle left to right are planning, design, coding, and testing. The planning include user stories, values, acceptance test criteria, and iteration plan. The design include simple design and C</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R</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C card; spike solutions and prototypes. Coding reads refactoring and pair programming. The testing and coding share unit test, and continuous integration. The testing reads acceptance testing. The testing releases software increment and project velocity computed.</a:t>
            </a:r>
          </a:p>
        </p:txBody>
      </p:sp>
      <p:sp>
        <p:nvSpPr>
          <p:cNvPr id="3" name="Text Placeholder 2"/>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20</a:t>
            </a:fld>
            <a:endParaRPr lang="en-US"/>
          </a:p>
        </p:txBody>
      </p:sp>
    </p:spTree>
    <p:extLst>
      <p:ext uri="{BB962C8B-B14F-4D97-AF65-F5344CB8AC3E}">
        <p14:creationId xmlns:p14="http://schemas.microsoft.com/office/powerpoint/2010/main" val="242375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335646"/>
            <a:ext cx="8458200" cy="616919"/>
          </a:xfrm>
        </p:spPr>
        <p:txBody>
          <a:bodyPr>
            <a:noAutofit/>
          </a:bodyPr>
          <a:lstStyle/>
          <a:p>
            <a:r>
              <a:rPr lang="en-US" sz="3600" noProof="0" dirty="0">
                <a:latin typeface="Times New Roman" panose="02020603050405020304" pitchFamily="18" charset="0"/>
                <a:cs typeface="Times New Roman" panose="02020603050405020304" pitchFamily="18" charset="0"/>
              </a:rPr>
              <a:t>Kanban Framework </a:t>
            </a:r>
            <a:r>
              <a:rPr lang="en-US" sz="3600" dirty="0">
                <a:latin typeface="Times New Roman" panose="02020603050405020304" pitchFamily="18" charset="0"/>
                <a:cs typeface="Times New Roman" panose="02020603050405020304" pitchFamily="18" charset="0"/>
              </a:rPr>
              <a:t>– </a:t>
            </a:r>
            <a:r>
              <a:rPr lang="en-US" sz="3600" noProof="0" dirty="0">
                <a:latin typeface="Times New Roman" panose="02020603050405020304" pitchFamily="18" charset="0"/>
                <a:cs typeface="Times New Roman" panose="02020603050405020304" pitchFamily="18" charset="0"/>
              </a:rPr>
              <a:t>Text Alternative</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4"/>
          </p:nvPr>
        </p:nvSpPr>
        <p:spPr>
          <a:xfrm>
            <a:off x="3081587" y="1112624"/>
            <a:ext cx="2980826" cy="225425"/>
          </a:xfrm>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latin typeface="Times New Roman" panose="02020603050405020304" pitchFamily="18" charset="0"/>
                <a:cs typeface="Times New Roman" panose="02020603050405020304" pitchFamily="18" charset="0"/>
              </a:rPr>
              <a:t>A Kanban framework consists of 6 verticals which, from left to right, are: backlog, selected, analysis, development, testing, and done. The process moves from left to right. Between backlog and selected one can introduce an expedite lane.</a:t>
            </a:r>
          </a:p>
        </p:txBody>
      </p:sp>
      <p:sp>
        <p:nvSpPr>
          <p:cNvPr id="3" name="Text Placeholder 2"/>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t>21</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4186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DevOps </a:t>
            </a:r>
            <a:r>
              <a:rPr lang="en-US" sz="4000" dirty="0">
                <a:latin typeface="Times New Roman" panose="02020603050405020304" pitchFamily="18" charset="0"/>
                <a:cs typeface="Times New Roman" panose="02020603050405020304" pitchFamily="18" charset="0"/>
              </a:rPr>
              <a:t>– </a:t>
            </a:r>
            <a:r>
              <a:rPr lang="en-US" sz="4000" noProof="0" dirty="0">
                <a:latin typeface="Times New Roman" panose="02020603050405020304" pitchFamily="18" charset="0"/>
                <a:cs typeface="Times New Roman" panose="02020603050405020304" pitchFamily="18" charset="0"/>
              </a:rPr>
              <a:t>Text Alternative</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4"/>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latin typeface="Times New Roman" panose="02020603050405020304" pitchFamily="18" charset="0"/>
                <a:cs typeface="Times New Roman" panose="02020603050405020304" pitchFamily="18" charset="0"/>
              </a:rPr>
              <a:t>A flowchart displays Dev Ops. The flowchart displays plan, code, build, and test on the left side from top to bottom and deploy, operate, and monitor from top to bottom on the right side. Test integrates with deploy, and monitor integrates with plan.</a:t>
            </a:r>
          </a:p>
        </p:txBody>
      </p:sp>
      <p:sp>
        <p:nvSpPr>
          <p:cNvPr id="3" name="Text Placeholder 2"/>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t>22</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593945"/>
      </p:ext>
    </p:extLst>
  </p:cSld>
  <p:clrMapOvr>
    <a:masterClrMapping/>
  </p:clrMapOvr>
</p:sld>
</file>

<file path=ppt/theme/theme1.xml><?xml version="1.0" encoding="utf-8"?>
<a:theme xmlns:a="http://schemas.openxmlformats.org/drawingml/2006/main" name="Title Slides Master">
  <a:themeElements>
    <a:clrScheme name="Custom 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9205645-1F2A-4B1E-9674-DA1B2F4D5ED6}"/>
    </a:ext>
  </a:extLst>
</a:theme>
</file>

<file path=ppt/theme/theme2.xml><?xml version="1.0" encoding="utf-8"?>
<a:theme xmlns:a="http://schemas.openxmlformats.org/drawingml/2006/main" name="MainContentSlideMaster">
  <a:themeElements>
    <a:clrScheme name="Custom 4">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B82DCB52-FEF9-40CC-B3DC-F0115DBC3F82}"/>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38380B4B-557F-493C-8BD4-E5DEA4FEDAB0}"/>
    </a:ext>
  </a:extLst>
</a:theme>
</file>

<file path=ppt/theme/theme5.xml><?xml version="1.0" encoding="utf-8"?>
<a:theme xmlns:a="http://schemas.openxmlformats.org/drawingml/2006/main" name="ImageDescriptionAppendixSlideMaster">
  <a:themeElements>
    <a:clrScheme name="Custom 5">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F0C5A687-89F8-48FC-8D59-8BA67B8E380E}"/>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Template_Editorial_v8_2018</Template>
  <TotalTime>451</TotalTime>
  <Words>1470</Words>
  <Application>Microsoft Office PowerPoint</Application>
  <PresentationFormat>全屏显示(4:3)</PresentationFormat>
  <Paragraphs>152</Paragraphs>
  <Slides>22</Slides>
  <Notes>0</Notes>
  <HiddenSlides>6</HiddenSlides>
  <MMClips>0</MMClips>
  <ScaleCrop>false</ScaleCrop>
  <HeadingPairs>
    <vt:vector size="6" baseType="variant">
      <vt:variant>
        <vt:lpstr>已用的字体</vt:lpstr>
      </vt:variant>
      <vt:variant>
        <vt:i4>2</vt:i4>
      </vt:variant>
      <vt:variant>
        <vt:lpstr>主题</vt:lpstr>
      </vt:variant>
      <vt:variant>
        <vt:i4>5</vt:i4>
      </vt:variant>
      <vt:variant>
        <vt:lpstr>幻灯片标题</vt:lpstr>
      </vt:variant>
      <vt:variant>
        <vt:i4>22</vt:i4>
      </vt:variant>
    </vt:vector>
  </HeadingPairs>
  <TitlesOfParts>
    <vt:vector size="29" baseType="lpstr">
      <vt:lpstr>Arial</vt:lpstr>
      <vt:lpstr>Times New Roman</vt:lpstr>
      <vt:lpstr>Title Slides Master</vt:lpstr>
      <vt:lpstr>MainContentSlideMaster</vt:lpstr>
      <vt:lpstr>ClosingMaster</vt:lpstr>
      <vt:lpstr>DividerSlideMaster</vt:lpstr>
      <vt:lpstr>ImageDescriptionAppendixSlideMaster</vt:lpstr>
      <vt:lpstr>Chapter 3</vt:lpstr>
      <vt:lpstr>What is Agility?</vt:lpstr>
      <vt:lpstr>Agility and Cost of Change</vt:lpstr>
      <vt:lpstr>What is an Agile Process?</vt:lpstr>
      <vt:lpstr>Agility Principles 1</vt:lpstr>
      <vt:lpstr>Agility Principles 2</vt:lpstr>
      <vt:lpstr>Scrum Framework</vt:lpstr>
      <vt:lpstr>Scrum Details</vt:lpstr>
      <vt:lpstr>Extreme Programming (XP) Framework</vt:lpstr>
      <vt:lpstr>XP Details</vt:lpstr>
      <vt:lpstr>Kanban Framework</vt:lpstr>
      <vt:lpstr>Kanban Details</vt:lpstr>
      <vt:lpstr>DevOps</vt:lpstr>
      <vt:lpstr>DevOps Details</vt:lpstr>
      <vt:lpstr>Homework</vt:lpstr>
      <vt:lpstr>End of Main Content</vt:lpstr>
      <vt:lpstr>Accessibility Content: Text Alternatives for Images</vt:lpstr>
      <vt:lpstr>Agility and Cost of Change – Text Alternative</vt:lpstr>
      <vt:lpstr>Scrum Framework – Text Alternative</vt:lpstr>
      <vt:lpstr>Extreme Programming (XP) Framework – Text Alternative</vt:lpstr>
      <vt:lpstr>Kanban Framework – Text Alternative</vt:lpstr>
      <vt:lpstr>DevOps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of Four Title Slide Options</dc:title>
  <dc:creator>Ervolino, Heather</dc:creator>
  <cp:keywords>PPT</cp:keywords>
  <cp:lastModifiedBy>张 海宁</cp:lastModifiedBy>
  <cp:revision>67</cp:revision>
  <dcterms:created xsi:type="dcterms:W3CDTF">2019-01-22T22:04:31Z</dcterms:created>
  <dcterms:modified xsi:type="dcterms:W3CDTF">2023-09-07T03:11:56Z</dcterms:modified>
</cp:coreProperties>
</file>